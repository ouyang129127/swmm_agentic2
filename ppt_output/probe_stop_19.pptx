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3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SWMM_Agentic\SWMM-Agentic2\ppt_build\assets\max-depth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2B">
              <a:alpha val="76000"/>
            </a:srgbClr>
          </a:solidFill>
          <a:ln w="12700">
            <a:solidFill>
              <a:srgbClr val="17212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132588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SWMM-Agentic2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76656" y="2157984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城市内涝 Agentic 诊断工作流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85800" y="2816352"/>
            <a:ext cx="1508760" cy="6400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10528" y="5925312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程序算得准，LLM 问得懂，流程管得住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94944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719072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10512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CA2D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0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34640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Agentic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767328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58768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POSITIONING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 Agentic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83080"/>
            <a:ext cx="3794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程序、LLM 与 Agentic 各司其职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58368" y="3218688"/>
            <a:ext cx="3611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把可复现计算能力和任务理解能力组织在同一条受控流程里。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800600" y="157276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572768"/>
            <a:ext cx="82296" cy="749808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47488" y="177393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程序负责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47488" y="217627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读取模型、运行模拟、提取指标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00600" y="257860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2578608"/>
            <a:ext cx="82296" cy="749808"/>
          </a:xfrm>
          <a:prstGeom prst="rect">
            <a:avLst/>
          </a:prstGeom>
          <a:solidFill>
            <a:srgbClr val="7969A4"/>
          </a:solidFill>
          <a:ln w="12700">
            <a:solidFill>
              <a:srgbClr val="7969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7488" y="277977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负责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47488" y="318211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理解问题、解释证据、支持追问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00600" y="358444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3584448"/>
            <a:ext cx="82296" cy="74980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3785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Agentic 负责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47488" y="418795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串联阶段、控制流程、避免漂移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00600" y="459028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4590288"/>
            <a:ext cx="82296" cy="749808"/>
          </a:xfrm>
          <a:prstGeom prst="rect">
            <a:avLst/>
          </a:prstGeom>
          <a:solidFill>
            <a:srgbClr val="BD9130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479145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最终产物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47488" y="519379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证据链、诊断 claim、核查报告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20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44752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模型结果，不再只是一堆文件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60120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852928"/>
            <a:ext cx="82296" cy="141732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减少直接喂海量数据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90872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2852928"/>
            <a:ext cx="82296" cy="1417320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诊断读取结构化证据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21624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21624" y="2852928"/>
            <a:ext cx="82296" cy="1417320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68512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更可信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68512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每条结论都能核查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20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一次暴雨模拟的结果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max-depth-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36192"/>
            <a:ext cx="6720840" cy="4069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09560" y="178308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F83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0.7592 m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7909560" y="2286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最大水深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909560" y="297180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B8B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9890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7909560" y="3474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匹配溢流节点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909560" y="416052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598535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7909560" y="4663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CA2D 结果记录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20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从给水管网到排水内涝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572768"/>
            <a:ext cx="4343400" cy="2651760"/>
          </a:xfrm>
          <a:prstGeom prst="roundRect">
            <a:avLst>
              <a:gd name="adj" fmla="val 2414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1572768"/>
            <a:ext cx="82296" cy="265176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73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EPANET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176272"/>
            <a:ext cx="3931920" cy="1901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节点、管段、水源、泵阀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19088" y="1572768"/>
            <a:ext cx="4343400" cy="2651760"/>
          </a:xfrm>
          <a:prstGeom prst="roundRect">
            <a:avLst>
              <a:gd name="adj" fmla="val 2414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19088" y="1572768"/>
            <a:ext cx="82296" cy="2651760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65976" y="1773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SWMM-CA2D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65976" y="2176272"/>
            <a:ext cx="3931920" cy="1901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降雨、管网、冒溢、地表积水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30368" y="2898648"/>
            <a:ext cx="1005840" cy="0"/>
          </a:xfrm>
          <a:prstGeom prst="line">
            <a:avLst/>
          </a:prstGeom>
          <a:noFill/>
          <a:ln w="25400">
            <a:solidFill>
              <a:srgbClr val="617080"/>
            </a:solidFill>
            <a:prstDash val="solid"/>
            <a:headEnd type="none"/>
            <a:tailEnd type="triangle"/>
          </a:ln>
        </p:spPr>
      </p:sp>
      <p:pic>
        <p:nvPicPr>
          <p:cNvPr id="17" name="Image 0" descr="E:\SWMM_Agentic\SWMM-Agentic2\ppt_build\assets\max-depth-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2816352"/>
            <a:ext cx="2331720" cy="107899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24128" y="501091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对象复杂性变了，Agent 任务也变了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20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从工具分工到流程分工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494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情景准备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3055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5973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946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耦合模拟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0507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3425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4398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证据构建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7959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0877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1850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灾害诊断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5411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8329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9302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证据核查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62863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95781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06754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解释报告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828800" y="46817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每个阶段都有明确输入、输出和状态。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20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一条受控的 Agent 工作流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agent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44752"/>
            <a:ext cx="10378440" cy="4434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29968" y="598017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17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/ Simulation / Evidence / Diagnosis / Verification / Report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20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不让 LLM 直接吞原始结果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 data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5915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4495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3639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9943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8523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7667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3971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2551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1695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7999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76579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5723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920240" y="416966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0" y="42428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evidence_table.csv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416966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42428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diagnosis_claims.json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89520" y="416966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42428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verification_report.json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20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输出先变成证据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evidence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6537960" cy="42793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99248" y="187452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D9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318411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7699248" y="2377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records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662672" y="3319272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54112" y="339242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object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9235440" y="3319272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0" y="339242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662672" y="3886200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54112" y="395935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9235440" y="3886200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26880" y="395935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20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证据生成诊断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1591056"/>
            <a:ext cx="3749040" cy="4005072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32688" y="1828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5 风险对象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23317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227685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115176 / 0.698 m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932688" y="28072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17320" y="2752344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38021 / 0.638 m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932688" y="32826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17320" y="322783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9684 / 0.523 m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932688" y="375818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17320" y="37033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37765 / 0.476 m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932688" y="4233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17320" y="417880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38278 / 0.458 m</a:t>
            </a:r>
            <a:endParaRPr lang="en-US" sz="1230" dirty="0"/>
          </a:p>
        </p:txBody>
      </p:sp>
      <p:pic>
        <p:nvPicPr>
          <p:cNvPr id="20" name="Image 0" descr="E:\SWMM_Agentic\SWMM-Agentic2\ppt_build\assets\diagnosis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1572768"/>
            <a:ext cx="6446520" cy="37033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166360" y="55778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 = 对象 + 指标 + 数值 + evidence_id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20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结论必须查得到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933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F83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claims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1005840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诊断结论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62272" y="19933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B8B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supported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4462272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证据支撑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18704" y="19933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 unsupported rate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7918704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无证据结论率</a:t>
            </a:r>
            <a:endParaRPr lang="en-US" sz="1050" dirty="0"/>
          </a:p>
        </p:txBody>
      </p:sp>
      <p:pic>
        <p:nvPicPr>
          <p:cNvPr id="14" name="Image 0" descr="E:\SWMM_Agentic\SWMM-Agentic2\ppt_build\assets\verification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3822192"/>
            <a:ext cx="4297680" cy="162763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51560" y="50474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无证据输出被显式计量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20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RELATION GRAPH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立体化证据网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雨情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14016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05456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地表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78224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9664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42432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管段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泵站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070848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62288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分区</a:t>
            </a:r>
            <a:endParaRPr lang="en-US" sz="950" dirty="0"/>
          </a:p>
        </p:txBody>
      </p:sp>
      <p:pic>
        <p:nvPicPr>
          <p:cNvPr id="20" name="Image 0" descr="E:\SWMM_Agentic\SWMM-Agentic2\ppt_build\assets\graph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86000"/>
            <a:ext cx="10195560" cy="260604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2743200" y="5230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834640" y="530352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对象层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773168" y="5230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64608" y="530352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关系层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803136" y="5230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94576" y="530352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证据层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PACKAGE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以冒溢节点为锚点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web-pack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81328"/>
            <a:ext cx="6400800" cy="43159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43800" y="1755648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35240" y="182880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rainfall_context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543800" y="2377440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35240" y="245059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node_evidence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543800" y="2999232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72384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surface_context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543800" y="3621024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35240" y="3694176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network_context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543800" y="4242816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35240" y="4315968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relation_paths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552944" y="51663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把局部诊断场景打包给 Agent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用指标证明工作流价值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任务成功率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297180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8152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工具调用准确率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521208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2180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代码尝试次数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745236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6208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人工干预次数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969264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80236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unsupported rate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1828800" y="47091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评价模块量化可靠性、效率和证据约束效果。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20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53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SWMM_Agentic\SWMM-Agentic2\ppt_build\assets\max-depth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2B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65836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大规模案例闭环运行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0467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926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10040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96926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3931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0390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9877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380390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管段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7395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3854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318411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663854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条证据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30859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7318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947318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unsupported rate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0808208" y="64465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20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从分析工具到交付材料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frontend-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99616"/>
            <a:ext cx="6537960" cy="43159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99248" y="1828800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90688" y="19019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风险热点清单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699248" y="2487168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90688" y="256032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证据表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699248" y="3145536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90688" y="321868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核查报告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699248" y="3803904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90688" y="387705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诊断说明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699248" y="501091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让模型结果进入城市内涝决策链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20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A1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已形成网页化宣传材料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web-ind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5897880" cy="4069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086600" y="1828800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78040" y="190195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915400" y="1828800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006840" y="190195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对象创新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086600" y="2578608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78040" y="265176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架构创新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915400" y="2578608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06840" y="265176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诊断机制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086600" y="3328416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78040" y="34015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关系证据网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915400" y="3328416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06840" y="34015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评价优化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20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A2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机制图可独立展示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web-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81328"/>
            <a:ext cx="5897880" cy="4023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95160" y="1682496"/>
            <a:ext cx="3520440" cy="658368"/>
          </a:xfrm>
          <a:prstGeom prst="roundRect">
            <a:avLst>
              <a:gd name="adj" fmla="val 9722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995160" y="1682496"/>
            <a:ext cx="82296" cy="658368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42048" y="18836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协同工作逻辑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242048" y="2286000"/>
            <a:ext cx="3108960" cy="-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可作为现场讲解入口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95160" y="2542032"/>
            <a:ext cx="3520440" cy="658368"/>
          </a:xfrm>
          <a:prstGeom prst="roundRect">
            <a:avLst>
              <a:gd name="adj" fmla="val 9722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995160" y="2542032"/>
            <a:ext cx="82296" cy="65836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42048" y="27432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evidence_table 生成流程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242048" y="3145536"/>
            <a:ext cx="3108960" cy="-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可作为现场讲解入口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995160" y="3401568"/>
            <a:ext cx="3520440" cy="658368"/>
          </a:xfrm>
          <a:prstGeom prst="roundRect">
            <a:avLst>
              <a:gd name="adj" fmla="val 9722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995160" y="3401568"/>
            <a:ext cx="82296" cy="658368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42048" y="36027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DiagnosisAgent 工作机制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242048" y="4005072"/>
            <a:ext cx="3108960" cy="-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可作为现场讲解入口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995160" y="4261104"/>
            <a:ext cx="3520440" cy="658368"/>
          </a:xfrm>
          <a:prstGeom prst="roundRect">
            <a:avLst>
              <a:gd name="adj" fmla="val 9722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995160" y="4261104"/>
            <a:ext cx="82296" cy="65836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42048" y="44622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VerificationAgent 工作机制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242048" y="4864608"/>
            <a:ext cx="3108960" cy="-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可作为现场讲解入口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20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A3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诊断规则可配置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377440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D9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0.27 m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1325880" y="2880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moderate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0" y="2377440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0.40 m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4572000" y="2880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818120" y="2377440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7969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0.60 m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7818120" y="2880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57400" y="461772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阈值规则可随场景、城市标准和项目口径调整。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20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SWMM-Agentic2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SWMM-Agentic2 项目宣传版</dc:title>
  <dc:subject>城市内涝 Agentic 诊断工作流</dc:subject>
  <dc:creator>SWMM-Agentic2</dc:creator>
  <cp:lastModifiedBy>SWMM-Agentic2</cp:lastModifiedBy>
  <cp:revision>1</cp:revision>
  <dcterms:created xsi:type="dcterms:W3CDTF">2026-09-04T06:34:01Z</dcterms:created>
  <dcterms:modified xsi:type="dcterms:W3CDTF">2026-09-04T06:34:01Z</dcterms:modified>
</cp:coreProperties>
</file>