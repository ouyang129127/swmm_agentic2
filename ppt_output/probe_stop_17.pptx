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531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E:\SWMM_Agentic\SWMM-Agentic2\ppt_build\assets\max-depth-cov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212B">
              <a:alpha val="76000"/>
            </a:srgbClr>
          </a:solidFill>
          <a:ln w="12700">
            <a:solidFill>
              <a:srgbClr val="17212B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58368" y="1325880"/>
            <a:ext cx="7315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SWMM-Agentic2</a:t>
            </a:r>
            <a:endParaRPr lang="en-US" sz="3800" dirty="0"/>
          </a:p>
        </p:txBody>
      </p:sp>
      <p:sp>
        <p:nvSpPr>
          <p:cNvPr id="5" name="Text 2"/>
          <p:cNvSpPr/>
          <p:nvPr/>
        </p:nvSpPr>
        <p:spPr>
          <a:xfrm>
            <a:off x="676656" y="2157984"/>
            <a:ext cx="6492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EEF4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城市内涝 Agentic 诊断工作流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685800" y="2816352"/>
            <a:ext cx="1508760" cy="64008"/>
          </a:xfrm>
          <a:prstGeom prst="rect">
            <a:avLst/>
          </a:prstGeom>
          <a:solidFill>
            <a:srgbClr val="5B8B69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510528" y="5925312"/>
            <a:ext cx="4956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程序算得准，LLM 问得懂，流程管得住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94944" y="512064"/>
            <a:ext cx="841248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D8DEE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86384" y="585216"/>
            <a:ext cx="6583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SWMM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1719072" y="512064"/>
            <a:ext cx="841248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D8DEE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810512" y="585216"/>
            <a:ext cx="6583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CA2D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2743200" y="512064"/>
            <a:ext cx="841248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D8DEE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834640" y="585216"/>
            <a:ext cx="6583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Agentic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3767328" y="512064"/>
            <a:ext cx="841248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D8DEE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858768" y="585216"/>
            <a:ext cx="6583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Evidence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5F83AD"/>
          </a:solidFill>
          <a:ln w="12700">
            <a:solidFill>
              <a:srgbClr val="5F83A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12191695" cy="32004"/>
          </a:xfrm>
          <a:prstGeom prst="rect">
            <a:avLst/>
          </a:prstGeom>
          <a:solidFill>
            <a:srgbClr val="5B8B69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4747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7969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POSITIONING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66928" y="603504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为什么需要 Agentic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66928" y="1225296"/>
            <a:ext cx="1051560" cy="41148"/>
          </a:xfrm>
          <a:prstGeom prst="rect">
            <a:avLst/>
          </a:prstGeom>
          <a:solidFill>
            <a:srgbClr val="5B8B69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82496" y="1225296"/>
            <a:ext cx="384048" cy="41148"/>
          </a:xfrm>
          <a:prstGeom prst="rect">
            <a:avLst/>
          </a:prstGeom>
          <a:solidFill>
            <a:srgbClr val="B56A64"/>
          </a:solidFill>
          <a:ln w="12700">
            <a:solidFill>
              <a:srgbClr val="B56A6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1792" y="1783080"/>
            <a:ext cx="37947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程序、LLM 与 Agentic 各司其职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658368" y="3218688"/>
            <a:ext cx="36118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把可复现计算能力和任务理解能力组织在同一条受控流程里。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4800600" y="1572768"/>
            <a:ext cx="6355080" cy="749808"/>
          </a:xfrm>
          <a:prstGeom prst="roundRect">
            <a:avLst>
              <a:gd name="adj" fmla="val 8537"/>
            </a:avLst>
          </a:prstGeom>
          <a:solidFill>
            <a:srgbClr val="DCE9F8"/>
          </a:solidFill>
          <a:ln w="12700">
            <a:solidFill>
              <a:srgbClr val="5F83AD"/>
            </a:solidFill>
            <a:prstDash val="solid"/>
          </a:ln>
          <a:effectLst>
            <a:outerShdw sx="100000" sy="100000" kx="0" ky="0" algn="bl" rotWithShape="0" blurRad="12700" dist="50800" dir="2700000">
              <a:srgbClr val="8390A0">
                <a:alpha val="1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00600" y="1572768"/>
            <a:ext cx="82296" cy="749808"/>
          </a:xfrm>
          <a:prstGeom prst="rect">
            <a:avLst/>
          </a:prstGeom>
          <a:solidFill>
            <a:srgbClr val="5F83AD"/>
          </a:solidFill>
          <a:ln w="12700">
            <a:solidFill>
              <a:srgbClr val="5F83A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47488" y="1773936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程序负责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047488" y="2176272"/>
            <a:ext cx="5943600" cy="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44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读取模型、运行模拟、提取指标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800600" y="2578608"/>
            <a:ext cx="6355080" cy="749808"/>
          </a:xfrm>
          <a:prstGeom prst="roundRect">
            <a:avLst>
              <a:gd name="adj" fmla="val 8537"/>
            </a:avLst>
          </a:prstGeom>
          <a:solidFill>
            <a:srgbClr val="EBE5F6"/>
          </a:solidFill>
          <a:ln w="12700">
            <a:solidFill>
              <a:srgbClr val="7969A4"/>
            </a:solidFill>
            <a:prstDash val="solid"/>
          </a:ln>
          <a:effectLst>
            <a:outerShdw sx="100000" sy="100000" kx="0" ky="0" algn="bl" rotWithShape="0" blurRad="12700" dist="50800" dir="2700000">
              <a:srgbClr val="8390A0">
                <a:alpha val="1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800600" y="2578608"/>
            <a:ext cx="82296" cy="749808"/>
          </a:xfrm>
          <a:prstGeom prst="rect">
            <a:avLst/>
          </a:prstGeom>
          <a:solidFill>
            <a:srgbClr val="7969A4"/>
          </a:solidFill>
          <a:ln w="12700">
            <a:solidFill>
              <a:srgbClr val="7969A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47488" y="2779776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 负责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047488" y="3182112"/>
            <a:ext cx="5943600" cy="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44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理解问题、解释证据、支持追问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800600" y="3584448"/>
            <a:ext cx="6355080" cy="749808"/>
          </a:xfrm>
          <a:prstGeom prst="roundRect">
            <a:avLst>
              <a:gd name="adj" fmla="val 8537"/>
            </a:avLst>
          </a:prstGeom>
          <a:solidFill>
            <a:srgbClr val="E0EFE6"/>
          </a:solidFill>
          <a:ln w="12700">
            <a:solidFill>
              <a:srgbClr val="5B8B69"/>
            </a:solidFill>
            <a:prstDash val="solid"/>
          </a:ln>
          <a:effectLst>
            <a:outerShdw sx="100000" sy="100000" kx="0" ky="0" algn="bl" rotWithShape="0" blurRad="12700" dist="50800" dir="2700000">
              <a:srgbClr val="8390A0">
                <a:alpha val="1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800600" y="3584448"/>
            <a:ext cx="82296" cy="749808"/>
          </a:xfrm>
          <a:prstGeom prst="rect">
            <a:avLst/>
          </a:prstGeom>
          <a:solidFill>
            <a:srgbClr val="5B8B69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47488" y="3785616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Agentic 负责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047488" y="4187952"/>
            <a:ext cx="5943600" cy="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44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串联阶段、控制流程、避免漂移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800600" y="4590288"/>
            <a:ext cx="6355080" cy="749808"/>
          </a:xfrm>
          <a:prstGeom prst="roundRect">
            <a:avLst>
              <a:gd name="adj" fmla="val 8537"/>
            </a:avLst>
          </a:prstGeom>
          <a:solidFill>
            <a:srgbClr val="FFF0C7"/>
          </a:solidFill>
          <a:ln w="12700">
            <a:solidFill>
              <a:srgbClr val="BD9130"/>
            </a:solidFill>
            <a:prstDash val="solid"/>
          </a:ln>
          <a:effectLst>
            <a:outerShdw sx="100000" sy="100000" kx="0" ky="0" algn="bl" rotWithShape="0" blurRad="12700" dist="50800" dir="2700000">
              <a:srgbClr val="8390A0">
                <a:alpha val="16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800600" y="4590288"/>
            <a:ext cx="82296" cy="749808"/>
          </a:xfrm>
          <a:prstGeom prst="rect">
            <a:avLst/>
          </a:prstGeom>
          <a:solidFill>
            <a:srgbClr val="BD9130"/>
          </a:solidFill>
          <a:ln w="12700">
            <a:solidFill>
              <a:srgbClr val="BD913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47488" y="4791456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最终产物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5047488" y="5193792"/>
            <a:ext cx="5943600" cy="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44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证据链、诊断 claim、核查报告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566928" y="6473952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SWMM-Agentic2 · 城市内涝 Agentic 诊断工作流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0972800" y="6473952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/ 20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0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5F83AD"/>
          </a:solidFill>
          <a:ln w="12700">
            <a:solidFill>
              <a:srgbClr val="5F83A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12191695" cy="32004"/>
          </a:xfrm>
          <a:prstGeom prst="rect">
            <a:avLst/>
          </a:prstGeom>
          <a:solidFill>
            <a:srgbClr val="5B8B69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444752"/>
            <a:ext cx="10332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模型结果，不再只是一堆文件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960120" y="2852928"/>
            <a:ext cx="2926080" cy="1417320"/>
          </a:xfrm>
          <a:prstGeom prst="roundRect">
            <a:avLst>
              <a:gd name="adj" fmla="val 4516"/>
            </a:avLst>
          </a:prstGeom>
          <a:solidFill>
            <a:srgbClr val="DCE9F8"/>
          </a:solidFill>
          <a:ln w="12700">
            <a:solidFill>
              <a:srgbClr val="5F83AD"/>
            </a:solidFill>
            <a:prstDash val="solid"/>
          </a:ln>
          <a:effectLst>
            <a:outerShdw sx="100000" sy="100000" kx="0" ky="0" algn="bl" rotWithShape="0" blurRad="12700" dist="50800" dir="2700000">
              <a:srgbClr val="8390A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60120" y="2852928"/>
            <a:ext cx="82296" cy="1417320"/>
          </a:xfrm>
          <a:prstGeom prst="rect">
            <a:avLst/>
          </a:prstGeom>
          <a:solidFill>
            <a:srgbClr val="5F83AD"/>
          </a:solidFill>
          <a:ln w="12700">
            <a:solidFill>
              <a:srgbClr val="5F83A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07008" y="3054096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更省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207008" y="3456432"/>
            <a:ext cx="2514600" cy="6675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44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减少直接喂海量数据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690872" y="2852928"/>
            <a:ext cx="2926080" cy="1417320"/>
          </a:xfrm>
          <a:prstGeom prst="roundRect">
            <a:avLst>
              <a:gd name="adj" fmla="val 4516"/>
            </a:avLst>
          </a:prstGeom>
          <a:solidFill>
            <a:srgbClr val="E0EFE6"/>
          </a:solidFill>
          <a:ln w="12700">
            <a:solidFill>
              <a:srgbClr val="5B8B69"/>
            </a:solidFill>
            <a:prstDash val="solid"/>
          </a:ln>
          <a:effectLst>
            <a:outerShdw sx="100000" sy="100000" kx="0" ky="0" algn="bl" rotWithShape="0" blurRad="12700" dist="50800" dir="2700000">
              <a:srgbClr val="8390A0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90872" y="2852928"/>
            <a:ext cx="82296" cy="1417320"/>
          </a:xfrm>
          <a:prstGeom prst="rect">
            <a:avLst/>
          </a:prstGeom>
          <a:solidFill>
            <a:srgbClr val="5B8B69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0" y="3054096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更准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937760" y="3456432"/>
            <a:ext cx="2514600" cy="6675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44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诊断读取结构化证据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421624" y="2852928"/>
            <a:ext cx="2926080" cy="1417320"/>
          </a:xfrm>
          <a:prstGeom prst="roundRect">
            <a:avLst>
              <a:gd name="adj" fmla="val 4516"/>
            </a:avLst>
          </a:prstGeom>
          <a:solidFill>
            <a:srgbClr val="F7E1DF"/>
          </a:solidFill>
          <a:ln w="12700">
            <a:solidFill>
              <a:srgbClr val="B56A64"/>
            </a:solidFill>
            <a:prstDash val="solid"/>
          </a:ln>
          <a:effectLst>
            <a:outerShdw sx="100000" sy="100000" kx="0" ky="0" algn="bl" rotWithShape="0" blurRad="12700" dist="50800" dir="2700000">
              <a:srgbClr val="8390A0">
                <a:alpha val="1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421624" y="2852928"/>
            <a:ext cx="82296" cy="1417320"/>
          </a:xfrm>
          <a:prstGeom prst="rect">
            <a:avLst/>
          </a:prstGeom>
          <a:solidFill>
            <a:srgbClr val="B56A64"/>
          </a:solidFill>
          <a:ln w="12700">
            <a:solidFill>
              <a:srgbClr val="B56A6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68512" y="3054096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更可信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668512" y="3456432"/>
            <a:ext cx="2514600" cy="6675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44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每条结论都能核查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66928" y="6473952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SWMM-Agentic2 · 城市内涝 Agentic 诊断工作流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10972800" y="6473952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/ 20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5F83AD"/>
          </a:solidFill>
          <a:ln w="12700">
            <a:solidFill>
              <a:srgbClr val="5F83A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12191695" cy="32004"/>
          </a:xfrm>
          <a:prstGeom prst="rect">
            <a:avLst/>
          </a:prstGeom>
          <a:solidFill>
            <a:srgbClr val="5B8B69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4747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7969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CASE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66928" y="603504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一次暴雨模拟的结果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66928" y="1225296"/>
            <a:ext cx="1051560" cy="41148"/>
          </a:xfrm>
          <a:prstGeom prst="rect">
            <a:avLst/>
          </a:prstGeom>
          <a:solidFill>
            <a:srgbClr val="5B8B69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82496" y="1225296"/>
            <a:ext cx="384048" cy="41148"/>
          </a:xfrm>
          <a:prstGeom prst="rect">
            <a:avLst/>
          </a:prstGeom>
          <a:solidFill>
            <a:srgbClr val="B56A64"/>
          </a:solidFill>
          <a:ln w="12700">
            <a:solidFill>
              <a:srgbClr val="B56A64"/>
            </a:solidFill>
            <a:prstDash val="solid"/>
          </a:ln>
        </p:spPr>
      </p:sp>
      <p:pic>
        <p:nvPicPr>
          <p:cNvPr id="8" name="Image 0" descr="E:\SWMM_Agentic\SWMM-Agentic2\ppt_build\assets\max-depth-fi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536192"/>
            <a:ext cx="6720840" cy="40690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909560" y="1783080"/>
            <a:ext cx="2743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5F83A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0.7592 m</a:t>
            </a:r>
            <a:endParaRPr lang="en-US" sz="2900" dirty="0"/>
          </a:p>
        </p:txBody>
      </p:sp>
      <p:sp>
        <p:nvSpPr>
          <p:cNvPr id="10" name="Text 7"/>
          <p:cNvSpPr/>
          <p:nvPr/>
        </p:nvSpPr>
        <p:spPr>
          <a:xfrm>
            <a:off x="7909560" y="22860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最大水深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7909560" y="2971800"/>
            <a:ext cx="2743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5B8B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9890</a:t>
            </a:r>
            <a:endParaRPr lang="en-US" sz="2900" dirty="0"/>
          </a:p>
        </p:txBody>
      </p:sp>
      <p:sp>
        <p:nvSpPr>
          <p:cNvPr id="12" name="Text 9"/>
          <p:cNvSpPr/>
          <p:nvPr/>
        </p:nvSpPr>
        <p:spPr>
          <a:xfrm>
            <a:off x="7909560" y="34747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匹配溢流节点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7909560" y="4160520"/>
            <a:ext cx="2743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B56A6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598535</a:t>
            </a:r>
            <a:endParaRPr lang="en-US" sz="2900" dirty="0"/>
          </a:p>
        </p:txBody>
      </p:sp>
      <p:sp>
        <p:nvSpPr>
          <p:cNvPr id="14" name="Text 11"/>
          <p:cNvSpPr/>
          <p:nvPr/>
        </p:nvSpPr>
        <p:spPr>
          <a:xfrm>
            <a:off x="7909560" y="46634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CA2D 结果记录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566928" y="6473952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SWMM-Agentic2 · 城市内涝 Agentic 诊断工作流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10972800" y="6473952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/ 20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5F83AD"/>
          </a:solidFill>
          <a:ln w="12700">
            <a:solidFill>
              <a:srgbClr val="5F83A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12191695" cy="32004"/>
          </a:xfrm>
          <a:prstGeom prst="rect">
            <a:avLst/>
          </a:prstGeom>
          <a:solidFill>
            <a:srgbClr val="5B8B69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4747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7969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OBJECT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66928" y="603504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从给水管网到排水内涝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66928" y="1225296"/>
            <a:ext cx="1051560" cy="41148"/>
          </a:xfrm>
          <a:prstGeom prst="rect">
            <a:avLst/>
          </a:prstGeom>
          <a:solidFill>
            <a:srgbClr val="5B8B69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82496" y="1225296"/>
            <a:ext cx="384048" cy="41148"/>
          </a:xfrm>
          <a:prstGeom prst="rect">
            <a:avLst/>
          </a:prstGeom>
          <a:solidFill>
            <a:srgbClr val="B56A64"/>
          </a:solidFill>
          <a:ln w="12700">
            <a:solidFill>
              <a:srgbClr val="B56A6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13232" y="1572768"/>
            <a:ext cx="4343400" cy="2651760"/>
          </a:xfrm>
          <a:prstGeom prst="roundRect">
            <a:avLst>
              <a:gd name="adj" fmla="val 2414"/>
            </a:avLst>
          </a:prstGeom>
          <a:solidFill>
            <a:srgbClr val="DCE9F8"/>
          </a:solidFill>
          <a:ln w="12700">
            <a:solidFill>
              <a:srgbClr val="5F83AD"/>
            </a:solidFill>
            <a:prstDash val="solid"/>
          </a:ln>
          <a:effectLst>
            <a:outerShdw sx="100000" sy="100000" kx="0" ky="0" algn="bl" rotWithShape="0" blurRad="12700" dist="50800" dir="2700000">
              <a:srgbClr val="8390A0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13232" y="1572768"/>
            <a:ext cx="82296" cy="2651760"/>
          </a:xfrm>
          <a:prstGeom prst="rect">
            <a:avLst/>
          </a:prstGeom>
          <a:solidFill>
            <a:srgbClr val="5F83AD"/>
          </a:solidFill>
          <a:ln w="12700">
            <a:solidFill>
              <a:srgbClr val="5F83A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177393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EPANET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60120" y="2176272"/>
            <a:ext cx="3931920" cy="19019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44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节点、管段、水源、泵阀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19088" y="1572768"/>
            <a:ext cx="4343400" cy="2651760"/>
          </a:xfrm>
          <a:prstGeom prst="roundRect">
            <a:avLst>
              <a:gd name="adj" fmla="val 2414"/>
            </a:avLst>
          </a:prstGeom>
          <a:solidFill>
            <a:srgbClr val="E0EFE6"/>
          </a:solidFill>
          <a:ln w="12700">
            <a:solidFill>
              <a:srgbClr val="5B8B69"/>
            </a:solidFill>
            <a:prstDash val="solid"/>
          </a:ln>
          <a:effectLst>
            <a:outerShdw sx="100000" sy="100000" kx="0" ky="0" algn="bl" rotWithShape="0" blurRad="12700" dist="50800" dir="2700000">
              <a:srgbClr val="8390A0">
                <a:alpha val="1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19088" y="1572768"/>
            <a:ext cx="82296" cy="2651760"/>
          </a:xfrm>
          <a:prstGeom prst="rect">
            <a:avLst/>
          </a:prstGeom>
          <a:solidFill>
            <a:srgbClr val="5B8B69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65976" y="177393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SWMM-CA2D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665976" y="2176272"/>
            <a:ext cx="3931920" cy="19019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44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降雨、管网、冒溢、地表积水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230368" y="2898648"/>
            <a:ext cx="1005840" cy="0"/>
          </a:xfrm>
          <a:prstGeom prst="line">
            <a:avLst/>
          </a:prstGeom>
          <a:noFill/>
          <a:ln w="25400">
            <a:solidFill>
              <a:srgbClr val="617080"/>
            </a:solidFill>
            <a:prstDash val="solid"/>
            <a:headEnd type="none"/>
            <a:tailEnd type="triangle"/>
          </a:ln>
        </p:spPr>
      </p:sp>
      <p:pic>
        <p:nvPicPr>
          <p:cNvPr id="17" name="Image 0" descr="E:\SWMM_Agentic\SWMM-Agentic2\ppt_build\assets\max-depth-fi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82128" y="2816352"/>
            <a:ext cx="2331720" cy="1078992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1024128" y="5010912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对象复杂性变了，Agent 任务也变了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566928" y="6473952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SWMM-Agentic2 · 城市内涝 Agentic 诊断工作流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10972800" y="6473952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/ 20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5F83AD"/>
          </a:solidFill>
          <a:ln w="12700">
            <a:solidFill>
              <a:srgbClr val="5F83A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12191695" cy="32004"/>
          </a:xfrm>
          <a:prstGeom prst="rect">
            <a:avLst/>
          </a:prstGeom>
          <a:solidFill>
            <a:srgbClr val="5B8B69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4747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7969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ARCHITECTURE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66928" y="603504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从工具分工到流程分工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66928" y="1225296"/>
            <a:ext cx="1051560" cy="41148"/>
          </a:xfrm>
          <a:prstGeom prst="rect">
            <a:avLst/>
          </a:prstGeom>
          <a:solidFill>
            <a:srgbClr val="5B8B69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82496" y="1225296"/>
            <a:ext cx="384048" cy="41148"/>
          </a:xfrm>
          <a:prstGeom prst="rect">
            <a:avLst/>
          </a:prstGeom>
          <a:solidFill>
            <a:srgbClr val="B56A64"/>
          </a:solidFill>
          <a:ln w="12700">
            <a:solidFill>
              <a:srgbClr val="B56A6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85216" y="2423160"/>
            <a:ext cx="1481328" cy="1115568"/>
          </a:xfrm>
          <a:prstGeom prst="roundRect">
            <a:avLst>
              <a:gd name="adj" fmla="val 5738"/>
            </a:avLst>
          </a:prstGeom>
          <a:solidFill>
            <a:srgbClr val="DCE9F8"/>
          </a:solidFill>
          <a:ln w="12700">
            <a:solidFill>
              <a:srgbClr val="5F83AD"/>
            </a:solidFill>
            <a:prstDash val="solid"/>
          </a:ln>
          <a:effectLst>
            <a:outerShdw sx="100000" sy="100000" kx="0" ky="0" algn="bl" rotWithShape="0" blurRad="12700" dist="50800" dir="2700000">
              <a:srgbClr val="8390A0">
                <a:alpha val="1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94944" y="2816352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情景准备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130552" y="2971800"/>
            <a:ext cx="256032" cy="0"/>
          </a:xfrm>
          <a:prstGeom prst="line">
            <a:avLst/>
          </a:prstGeom>
          <a:noFill/>
          <a:ln w="15240">
            <a:solidFill>
              <a:srgbClr val="617080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459736" y="2423160"/>
            <a:ext cx="1481328" cy="1115568"/>
          </a:xfrm>
          <a:prstGeom prst="roundRect">
            <a:avLst>
              <a:gd name="adj" fmla="val 5738"/>
            </a:avLst>
          </a:prstGeom>
          <a:solidFill>
            <a:srgbClr val="E0EFE6"/>
          </a:solidFill>
          <a:ln w="12700">
            <a:solidFill>
              <a:srgbClr val="5B8B69"/>
            </a:solidFill>
            <a:prstDash val="solid"/>
          </a:ln>
          <a:effectLst>
            <a:outerShdw sx="100000" sy="100000" kx="0" ky="0" algn="bl" rotWithShape="0" blurRad="12700" dist="50800" dir="2700000">
              <a:srgbClr val="8390A0">
                <a:alpha val="16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569464" y="2816352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耦合模拟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005072" y="2971800"/>
            <a:ext cx="256032" cy="0"/>
          </a:xfrm>
          <a:prstGeom prst="line">
            <a:avLst/>
          </a:prstGeom>
          <a:noFill/>
          <a:ln w="15240">
            <a:solidFill>
              <a:srgbClr val="617080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4334256" y="2423160"/>
            <a:ext cx="1481328" cy="1115568"/>
          </a:xfrm>
          <a:prstGeom prst="roundRect">
            <a:avLst>
              <a:gd name="adj" fmla="val 5738"/>
            </a:avLst>
          </a:prstGeom>
          <a:solidFill>
            <a:srgbClr val="DCE9F8"/>
          </a:solidFill>
          <a:ln w="12700">
            <a:solidFill>
              <a:srgbClr val="5F83AD"/>
            </a:solidFill>
            <a:prstDash val="solid"/>
          </a:ln>
          <a:effectLst>
            <a:outerShdw sx="100000" sy="100000" kx="0" ky="0" algn="bl" rotWithShape="0" blurRad="12700" dist="50800" dir="2700000">
              <a:srgbClr val="8390A0">
                <a:alpha val="16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443984" y="2816352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证据构建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879592" y="2971800"/>
            <a:ext cx="256032" cy="0"/>
          </a:xfrm>
          <a:prstGeom prst="line">
            <a:avLst/>
          </a:prstGeom>
          <a:noFill/>
          <a:ln w="15240">
            <a:solidFill>
              <a:srgbClr val="617080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208776" y="2423160"/>
            <a:ext cx="1481328" cy="1115568"/>
          </a:xfrm>
          <a:prstGeom prst="roundRect">
            <a:avLst>
              <a:gd name="adj" fmla="val 5738"/>
            </a:avLst>
          </a:prstGeom>
          <a:solidFill>
            <a:srgbClr val="E0EFE6"/>
          </a:solidFill>
          <a:ln w="12700">
            <a:solidFill>
              <a:srgbClr val="5B8B69"/>
            </a:solidFill>
            <a:prstDash val="solid"/>
          </a:ln>
          <a:effectLst>
            <a:outerShdw sx="100000" sy="100000" kx="0" ky="0" algn="bl" rotWithShape="0" blurRad="12700" dist="50800" dir="2700000">
              <a:srgbClr val="8390A0">
                <a:alpha val="16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318504" y="2816352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灾害诊断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754112" y="2971800"/>
            <a:ext cx="256032" cy="0"/>
          </a:xfrm>
          <a:prstGeom prst="line">
            <a:avLst/>
          </a:prstGeom>
          <a:noFill/>
          <a:ln w="15240">
            <a:solidFill>
              <a:srgbClr val="617080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8083296" y="2423160"/>
            <a:ext cx="1481328" cy="1115568"/>
          </a:xfrm>
          <a:prstGeom prst="roundRect">
            <a:avLst>
              <a:gd name="adj" fmla="val 5738"/>
            </a:avLst>
          </a:prstGeom>
          <a:solidFill>
            <a:srgbClr val="DCE9F8"/>
          </a:solidFill>
          <a:ln w="12700">
            <a:solidFill>
              <a:srgbClr val="5F83AD"/>
            </a:solidFill>
            <a:prstDash val="solid"/>
          </a:ln>
          <a:effectLst>
            <a:outerShdw sx="100000" sy="100000" kx="0" ky="0" algn="bl" rotWithShape="0" blurRad="12700" dist="50800" dir="2700000">
              <a:srgbClr val="8390A0">
                <a:alpha val="16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193024" y="2816352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证据核查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9628632" y="2971800"/>
            <a:ext cx="256032" cy="0"/>
          </a:xfrm>
          <a:prstGeom prst="line">
            <a:avLst/>
          </a:prstGeom>
          <a:noFill/>
          <a:ln w="15240">
            <a:solidFill>
              <a:srgbClr val="617080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9957816" y="2423160"/>
            <a:ext cx="1481328" cy="1115568"/>
          </a:xfrm>
          <a:prstGeom prst="roundRect">
            <a:avLst>
              <a:gd name="adj" fmla="val 5738"/>
            </a:avLst>
          </a:prstGeom>
          <a:solidFill>
            <a:srgbClr val="E0EFE6"/>
          </a:solidFill>
          <a:ln w="12700">
            <a:solidFill>
              <a:srgbClr val="5B8B69"/>
            </a:solidFill>
            <a:prstDash val="solid"/>
          </a:ln>
          <a:effectLst>
            <a:outerShdw sx="100000" sy="100000" kx="0" ky="0" algn="bl" rotWithShape="0" blurRad="12700" dist="50800" dir="2700000">
              <a:srgbClr val="8390A0">
                <a:alpha val="16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10067544" y="2816352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解释报告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828800" y="4681728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每个阶段都有明确输入、输出和状态。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66928" y="6473952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SWMM-Agentic2 · 城市内涝 Agentic 诊断工作流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0972800" y="6473952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 / 20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5F83AD"/>
          </a:solidFill>
          <a:ln w="12700">
            <a:solidFill>
              <a:srgbClr val="5F83A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12191695" cy="32004"/>
          </a:xfrm>
          <a:prstGeom prst="rect">
            <a:avLst/>
          </a:prstGeom>
          <a:solidFill>
            <a:srgbClr val="5B8B69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4747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7969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WORKFLOW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66928" y="603504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一条受控的 Agent 工作流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66928" y="1225296"/>
            <a:ext cx="1051560" cy="41148"/>
          </a:xfrm>
          <a:prstGeom prst="rect">
            <a:avLst/>
          </a:prstGeom>
          <a:solidFill>
            <a:srgbClr val="5B8B69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82496" y="1225296"/>
            <a:ext cx="384048" cy="41148"/>
          </a:xfrm>
          <a:prstGeom prst="rect">
            <a:avLst/>
          </a:prstGeom>
          <a:solidFill>
            <a:srgbClr val="B56A64"/>
          </a:solidFill>
          <a:ln w="12700">
            <a:solidFill>
              <a:srgbClr val="B56A64"/>
            </a:solidFill>
            <a:prstDash val="solid"/>
          </a:ln>
        </p:spPr>
      </p:sp>
      <p:pic>
        <p:nvPicPr>
          <p:cNvPr id="8" name="Image 0" descr="E:\SWMM_Agentic\SWMM-Agentic2\ppt_build\assets\agent-fl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444752"/>
            <a:ext cx="10378440" cy="44348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2029968" y="5980176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6170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Scenario / Simulation / Evidence / Diagnosis / Verification / Report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66928" y="6473952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SWMM-Agentic2 · 城市内涝 Agentic 诊断工作流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10972800" y="6473952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 / 20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0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5F83AD"/>
          </a:solidFill>
          <a:ln w="12700">
            <a:solidFill>
              <a:srgbClr val="5F83A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12191695" cy="32004"/>
          </a:xfrm>
          <a:prstGeom prst="rect">
            <a:avLst/>
          </a:prstGeom>
          <a:solidFill>
            <a:srgbClr val="5B8B69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4747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7969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DIAGNOSIS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66928" y="603504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不让 LLM 直接吞原始结果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66928" y="1225296"/>
            <a:ext cx="1051560" cy="41148"/>
          </a:xfrm>
          <a:prstGeom prst="rect">
            <a:avLst/>
          </a:prstGeom>
          <a:solidFill>
            <a:srgbClr val="5B8B69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82496" y="1225296"/>
            <a:ext cx="384048" cy="41148"/>
          </a:xfrm>
          <a:prstGeom prst="rect">
            <a:avLst/>
          </a:prstGeom>
          <a:solidFill>
            <a:srgbClr val="B56A64"/>
          </a:solidFill>
          <a:ln w="12700">
            <a:solidFill>
              <a:srgbClr val="B56A6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04672" y="2267712"/>
            <a:ext cx="1508760" cy="347472"/>
          </a:xfrm>
          <a:prstGeom prst="roundRect">
            <a:avLst>
              <a:gd name="adj" fmla="val 15789"/>
            </a:avLst>
          </a:prstGeom>
          <a:solidFill>
            <a:srgbClr val="F7E1DF"/>
          </a:solidFill>
          <a:ln w="12700">
            <a:solidFill>
              <a:srgbClr val="B56A6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96112" y="2340864"/>
            <a:ext cx="1325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raw data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359152" y="2441448"/>
            <a:ext cx="411480" cy="0"/>
          </a:xfrm>
          <a:prstGeom prst="line">
            <a:avLst/>
          </a:prstGeom>
          <a:noFill/>
          <a:ln w="17780">
            <a:solidFill>
              <a:srgbClr val="617080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3044952" y="2267712"/>
            <a:ext cx="1508760" cy="347472"/>
          </a:xfrm>
          <a:prstGeom prst="roundRect">
            <a:avLst>
              <a:gd name="adj" fmla="val 15789"/>
            </a:avLst>
          </a:prstGeom>
          <a:solidFill>
            <a:srgbClr val="FFF0C7"/>
          </a:solidFill>
          <a:ln w="12700">
            <a:solidFill>
              <a:srgbClr val="BD913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36392" y="2340864"/>
            <a:ext cx="1325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evidence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599432" y="2441448"/>
            <a:ext cx="411480" cy="0"/>
          </a:xfrm>
          <a:prstGeom prst="line">
            <a:avLst/>
          </a:prstGeom>
          <a:noFill/>
          <a:ln w="17780">
            <a:solidFill>
              <a:srgbClr val="617080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5285232" y="2267712"/>
            <a:ext cx="1508760" cy="347472"/>
          </a:xfrm>
          <a:prstGeom prst="roundRect">
            <a:avLst>
              <a:gd name="adj" fmla="val 15789"/>
            </a:avLst>
          </a:prstGeom>
          <a:solidFill>
            <a:srgbClr val="E0EFE6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76672" y="2340864"/>
            <a:ext cx="1325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claim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839712" y="2441448"/>
            <a:ext cx="411480" cy="0"/>
          </a:xfrm>
          <a:prstGeom prst="line">
            <a:avLst/>
          </a:prstGeom>
          <a:noFill/>
          <a:ln w="17780">
            <a:solidFill>
              <a:srgbClr val="617080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7525512" y="2267712"/>
            <a:ext cx="1508760" cy="347472"/>
          </a:xfrm>
          <a:prstGeom prst="roundRect">
            <a:avLst>
              <a:gd name="adj" fmla="val 15789"/>
            </a:avLst>
          </a:prstGeom>
          <a:solidFill>
            <a:srgbClr val="EBE5F6"/>
          </a:solidFill>
          <a:ln w="12700">
            <a:solidFill>
              <a:srgbClr val="7969A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616952" y="2340864"/>
            <a:ext cx="1325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audit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9079992" y="2441448"/>
            <a:ext cx="411480" cy="0"/>
          </a:xfrm>
          <a:prstGeom prst="line">
            <a:avLst/>
          </a:prstGeom>
          <a:noFill/>
          <a:ln w="17780">
            <a:solidFill>
              <a:srgbClr val="617080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9765792" y="2267712"/>
            <a:ext cx="1508760" cy="347472"/>
          </a:xfrm>
          <a:prstGeom prst="roundRect">
            <a:avLst>
              <a:gd name="adj" fmla="val 15789"/>
            </a:avLst>
          </a:prstGeom>
          <a:solidFill>
            <a:srgbClr val="DCE9F8"/>
          </a:solidFill>
          <a:ln w="12700">
            <a:solidFill>
              <a:srgbClr val="5F83A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857232" y="2340864"/>
            <a:ext cx="1325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report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1920240" y="4169664"/>
            <a:ext cx="2148840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D8DEE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011680" y="4242816"/>
            <a:ext cx="1965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evidence_table.csv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754880" y="4169664"/>
            <a:ext cx="2148840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D8DEE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46320" y="4242816"/>
            <a:ext cx="1965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diagnosis_claims.json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7589520" y="4169664"/>
            <a:ext cx="2148840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D8DEE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680960" y="4242816"/>
            <a:ext cx="1965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verification_report.json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66928" y="6473952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SWMM-Agentic2 · 城市内涝 Agentic 诊断工作流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10972800" y="6473952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 / 20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5F83AD"/>
          </a:solidFill>
          <a:ln w="12700">
            <a:solidFill>
              <a:srgbClr val="5F83A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12191695" cy="32004"/>
          </a:xfrm>
          <a:prstGeom prst="rect">
            <a:avLst/>
          </a:prstGeom>
          <a:solidFill>
            <a:srgbClr val="5B8B69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4747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7969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EVIDENCE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66928" y="603504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输出先变成证据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66928" y="1225296"/>
            <a:ext cx="1051560" cy="41148"/>
          </a:xfrm>
          <a:prstGeom prst="rect">
            <a:avLst/>
          </a:prstGeom>
          <a:solidFill>
            <a:srgbClr val="5B8B69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82496" y="1225296"/>
            <a:ext cx="384048" cy="41148"/>
          </a:xfrm>
          <a:prstGeom prst="rect">
            <a:avLst/>
          </a:prstGeom>
          <a:solidFill>
            <a:srgbClr val="B56A64"/>
          </a:solidFill>
          <a:ln w="12700">
            <a:solidFill>
              <a:srgbClr val="B56A64"/>
            </a:solidFill>
            <a:prstDash val="solid"/>
          </a:ln>
        </p:spPr>
      </p:sp>
      <p:pic>
        <p:nvPicPr>
          <p:cNvPr id="8" name="Image 0" descr="E:\SWMM_Agentic\SWMM-Agentic2\ppt_build\assets\evidence-fl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481328"/>
            <a:ext cx="6537960" cy="427939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699248" y="1874520"/>
            <a:ext cx="2743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BD91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318411</a:t>
            </a:r>
            <a:endParaRPr lang="en-US" sz="2900" dirty="0"/>
          </a:p>
        </p:txBody>
      </p:sp>
      <p:sp>
        <p:nvSpPr>
          <p:cNvPr id="10" name="Text 7"/>
          <p:cNvSpPr/>
          <p:nvPr/>
        </p:nvSpPr>
        <p:spPr>
          <a:xfrm>
            <a:off x="7699248" y="23774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evidence records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7662672" y="3319272"/>
            <a:ext cx="1261872" cy="347472"/>
          </a:xfrm>
          <a:prstGeom prst="roundRect">
            <a:avLst>
              <a:gd name="adj" fmla="val 15789"/>
            </a:avLst>
          </a:prstGeom>
          <a:solidFill>
            <a:srgbClr val="DCE9F8"/>
          </a:solidFill>
          <a:ln w="12700">
            <a:solidFill>
              <a:srgbClr val="5F83AD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754112" y="3392424"/>
            <a:ext cx="10789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object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9235440" y="3319272"/>
            <a:ext cx="1261872" cy="347472"/>
          </a:xfrm>
          <a:prstGeom prst="roundRect">
            <a:avLst>
              <a:gd name="adj" fmla="val 15789"/>
            </a:avLst>
          </a:prstGeom>
          <a:solidFill>
            <a:srgbClr val="E0EFE6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9326880" y="3392424"/>
            <a:ext cx="10789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metric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7662672" y="3886200"/>
            <a:ext cx="1261872" cy="347472"/>
          </a:xfrm>
          <a:prstGeom prst="roundRect">
            <a:avLst>
              <a:gd name="adj" fmla="val 15789"/>
            </a:avLst>
          </a:prstGeom>
          <a:solidFill>
            <a:srgbClr val="DCE9F8"/>
          </a:solidFill>
          <a:ln w="12700">
            <a:solidFill>
              <a:srgbClr val="5F83A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754112" y="3959352"/>
            <a:ext cx="10789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value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9235440" y="3886200"/>
            <a:ext cx="1261872" cy="347472"/>
          </a:xfrm>
          <a:prstGeom prst="roundRect">
            <a:avLst>
              <a:gd name="adj" fmla="val 15789"/>
            </a:avLst>
          </a:prstGeom>
          <a:solidFill>
            <a:srgbClr val="E0EFE6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9326880" y="3959352"/>
            <a:ext cx="10789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source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566928" y="6473952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SWMM-Agentic2 · 城市内涝 Agentic 诊断工作流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10972800" y="6473952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 / 20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5F83AD"/>
          </a:solidFill>
          <a:ln w="12700">
            <a:solidFill>
              <a:srgbClr val="5F83A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12191695" cy="32004"/>
          </a:xfrm>
          <a:prstGeom prst="rect">
            <a:avLst/>
          </a:prstGeom>
          <a:solidFill>
            <a:srgbClr val="5B8B69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4747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7969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CLAIMS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66928" y="603504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证据生成诊断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66928" y="1225296"/>
            <a:ext cx="1051560" cy="41148"/>
          </a:xfrm>
          <a:prstGeom prst="rect">
            <a:avLst/>
          </a:prstGeom>
          <a:solidFill>
            <a:srgbClr val="5B8B69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82496" y="1225296"/>
            <a:ext cx="384048" cy="41148"/>
          </a:xfrm>
          <a:prstGeom prst="rect">
            <a:avLst/>
          </a:prstGeom>
          <a:solidFill>
            <a:srgbClr val="B56A64"/>
          </a:solidFill>
          <a:ln w="12700">
            <a:solidFill>
              <a:srgbClr val="B56A6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94944" y="1591056"/>
            <a:ext cx="3749040" cy="4005072"/>
          </a:xfrm>
          <a:prstGeom prst="roundRect">
            <a:avLst>
              <a:gd name="adj" fmla="val 1707"/>
            </a:avLst>
          </a:prstGeom>
          <a:solidFill>
            <a:srgbClr val="FFFFFF"/>
          </a:solidFill>
          <a:ln w="12700">
            <a:solidFill>
              <a:srgbClr val="D8DEE7"/>
            </a:solidFill>
            <a:prstDash val="solid"/>
          </a:ln>
          <a:effectLst>
            <a:outerShdw sx="100000" sy="100000" kx="0" ky="0" algn="bl" rotWithShape="0" blurRad="12700" dist="50800" dir="2700000">
              <a:srgbClr val="8390A0">
                <a:alpha val="1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32688" y="182880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Top 5 风险对象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32688" y="23317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56A6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417320" y="2276856"/>
            <a:ext cx="2697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1721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Cell 115176 / 0.698 m</a:t>
            </a:r>
            <a:endParaRPr lang="en-US" sz="1230" dirty="0"/>
          </a:p>
        </p:txBody>
      </p:sp>
      <p:sp>
        <p:nvSpPr>
          <p:cNvPr id="12" name="Text 10"/>
          <p:cNvSpPr/>
          <p:nvPr/>
        </p:nvSpPr>
        <p:spPr>
          <a:xfrm>
            <a:off x="932688" y="2807208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56A6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417320" y="2752344"/>
            <a:ext cx="2697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1721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Cell 38021 / 0.638 m</a:t>
            </a:r>
            <a:endParaRPr lang="en-US" sz="1230" dirty="0"/>
          </a:p>
        </p:txBody>
      </p:sp>
      <p:sp>
        <p:nvSpPr>
          <p:cNvPr id="14" name="Text 12"/>
          <p:cNvSpPr/>
          <p:nvPr/>
        </p:nvSpPr>
        <p:spPr>
          <a:xfrm>
            <a:off x="932688" y="3282696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56A6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417320" y="3227832"/>
            <a:ext cx="2697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1721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Cell 9684 / 0.523 m</a:t>
            </a:r>
            <a:endParaRPr lang="en-US" sz="1230" dirty="0"/>
          </a:p>
        </p:txBody>
      </p:sp>
      <p:sp>
        <p:nvSpPr>
          <p:cNvPr id="16" name="Text 14"/>
          <p:cNvSpPr/>
          <p:nvPr/>
        </p:nvSpPr>
        <p:spPr>
          <a:xfrm>
            <a:off x="932688" y="3758184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56A6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417320" y="3703320"/>
            <a:ext cx="2697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1721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Cell 37765 / 0.476 m</a:t>
            </a:r>
            <a:endParaRPr lang="en-US" sz="1230" dirty="0"/>
          </a:p>
        </p:txBody>
      </p:sp>
      <p:sp>
        <p:nvSpPr>
          <p:cNvPr id="18" name="Text 16"/>
          <p:cNvSpPr/>
          <p:nvPr/>
        </p:nvSpPr>
        <p:spPr>
          <a:xfrm>
            <a:off x="932688" y="423367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56A6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417320" y="4178808"/>
            <a:ext cx="2697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1721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Cell 38278 / 0.458 m</a:t>
            </a:r>
            <a:endParaRPr lang="en-US" sz="1230" dirty="0"/>
          </a:p>
        </p:txBody>
      </p:sp>
      <p:pic>
        <p:nvPicPr>
          <p:cNvPr id="20" name="Image 0" descr="E:\SWMM_Agentic\SWMM-Agentic2\ppt_build\assets\diagnosis-fl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28032" y="1572768"/>
            <a:ext cx="6446520" cy="3703320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5166360" y="5577840"/>
            <a:ext cx="5669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claim = 对象 + 指标 + 数值 + evidence_id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566928" y="6473952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SWMM-Agentic2 · 城市内涝 Agentic 诊断工作流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10972800" y="6473952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 / 20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5F83AD"/>
          </a:solidFill>
          <a:ln w="12700">
            <a:solidFill>
              <a:srgbClr val="5F83A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12191695" cy="32004"/>
          </a:xfrm>
          <a:prstGeom prst="rect">
            <a:avLst/>
          </a:prstGeom>
          <a:solidFill>
            <a:srgbClr val="5B8B69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4747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7969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VERIFICATION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66928" y="603504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结论必须查得到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66928" y="1225296"/>
            <a:ext cx="1051560" cy="41148"/>
          </a:xfrm>
          <a:prstGeom prst="rect">
            <a:avLst/>
          </a:prstGeom>
          <a:solidFill>
            <a:srgbClr val="5B8B69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82496" y="1225296"/>
            <a:ext cx="384048" cy="41148"/>
          </a:xfrm>
          <a:prstGeom prst="rect">
            <a:avLst/>
          </a:prstGeom>
          <a:solidFill>
            <a:srgbClr val="B56A64"/>
          </a:solidFill>
          <a:ln w="12700">
            <a:solidFill>
              <a:srgbClr val="B56A6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1993392"/>
            <a:ext cx="3017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5F83A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50 claims</a:t>
            </a:r>
            <a:endParaRPr lang="en-US" sz="2900" dirty="0"/>
          </a:p>
        </p:txBody>
      </p:sp>
      <p:sp>
        <p:nvSpPr>
          <p:cNvPr id="9" name="Text 7"/>
          <p:cNvSpPr/>
          <p:nvPr/>
        </p:nvSpPr>
        <p:spPr>
          <a:xfrm>
            <a:off x="1005840" y="2496312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诊断结论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462272" y="1993392"/>
            <a:ext cx="3017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5B8B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50 supported</a:t>
            </a:r>
            <a:endParaRPr lang="en-US" sz="2900" dirty="0"/>
          </a:p>
        </p:txBody>
      </p:sp>
      <p:sp>
        <p:nvSpPr>
          <p:cNvPr id="11" name="Text 9"/>
          <p:cNvSpPr/>
          <p:nvPr/>
        </p:nvSpPr>
        <p:spPr>
          <a:xfrm>
            <a:off x="4462272" y="2496312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证据支撑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918704" y="1993392"/>
            <a:ext cx="3017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B56A6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0.0 unsupported rate</a:t>
            </a:r>
            <a:endParaRPr lang="en-US" sz="2900" dirty="0"/>
          </a:p>
        </p:txBody>
      </p:sp>
      <p:sp>
        <p:nvSpPr>
          <p:cNvPr id="13" name="Text 11"/>
          <p:cNvSpPr/>
          <p:nvPr/>
        </p:nvSpPr>
        <p:spPr>
          <a:xfrm>
            <a:off x="7918704" y="2496312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无证据结论率</a:t>
            </a:r>
            <a:endParaRPr lang="en-US" sz="1050" dirty="0"/>
          </a:p>
        </p:txBody>
      </p:sp>
      <p:pic>
        <p:nvPicPr>
          <p:cNvPr id="14" name="Image 0" descr="E:\SWMM_Agentic\SWMM-Agentic2\ppt_build\assets\verification-fl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20840" y="3822192"/>
            <a:ext cx="4297680" cy="1627632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051560" y="5047488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无证据输出被显式计量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566928" y="6473952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SWMM-Agentic2 · 城市内涝 Agentic 诊断工作流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10972800" y="6473952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 / 20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5F83AD"/>
          </a:solidFill>
          <a:ln w="12700">
            <a:solidFill>
              <a:srgbClr val="5F83A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12191695" cy="32004"/>
          </a:xfrm>
          <a:prstGeom prst="rect">
            <a:avLst/>
          </a:prstGeom>
          <a:solidFill>
            <a:srgbClr val="5B8B69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4747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7969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RELATION GRAPH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66928" y="603504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立体化证据网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66928" y="1225296"/>
            <a:ext cx="1051560" cy="41148"/>
          </a:xfrm>
          <a:prstGeom prst="rect">
            <a:avLst/>
          </a:prstGeom>
          <a:solidFill>
            <a:srgbClr val="5B8B69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82496" y="1225296"/>
            <a:ext cx="384048" cy="41148"/>
          </a:xfrm>
          <a:prstGeom prst="rect">
            <a:avLst/>
          </a:prstGeom>
          <a:solidFill>
            <a:srgbClr val="B56A64"/>
          </a:solidFill>
          <a:ln w="12700">
            <a:solidFill>
              <a:srgbClr val="B56A6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49808" y="1572768"/>
            <a:ext cx="1051560" cy="347472"/>
          </a:xfrm>
          <a:prstGeom prst="roundRect">
            <a:avLst>
              <a:gd name="adj" fmla="val 15789"/>
            </a:avLst>
          </a:prstGeom>
          <a:solidFill>
            <a:srgbClr val="FFF0C7"/>
          </a:solidFill>
          <a:ln w="12700">
            <a:solidFill>
              <a:srgbClr val="BD913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41248" y="1645920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雨情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414016" y="1572768"/>
            <a:ext cx="1051560" cy="347472"/>
          </a:xfrm>
          <a:prstGeom prst="roundRect">
            <a:avLst>
              <a:gd name="adj" fmla="val 15789"/>
            </a:avLst>
          </a:prstGeom>
          <a:solidFill>
            <a:srgbClr val="E0EFE6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05456" y="1645920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地表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078224" y="1572768"/>
            <a:ext cx="1051560" cy="347472"/>
          </a:xfrm>
          <a:prstGeom prst="roundRect">
            <a:avLst>
              <a:gd name="adj" fmla="val 15789"/>
            </a:avLst>
          </a:prstGeom>
          <a:solidFill>
            <a:srgbClr val="DCE9F8"/>
          </a:solidFill>
          <a:ln w="12700">
            <a:solidFill>
              <a:srgbClr val="5F83A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69664" y="1645920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节点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742432" y="1572768"/>
            <a:ext cx="1051560" cy="347472"/>
          </a:xfrm>
          <a:prstGeom prst="roundRect">
            <a:avLst>
              <a:gd name="adj" fmla="val 15789"/>
            </a:avLst>
          </a:prstGeom>
          <a:solidFill>
            <a:srgbClr val="EBE5F6"/>
          </a:solidFill>
          <a:ln w="12700">
            <a:solidFill>
              <a:srgbClr val="7969A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833872" y="1645920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管段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7406640" y="1572768"/>
            <a:ext cx="1051560" cy="347472"/>
          </a:xfrm>
          <a:prstGeom prst="roundRect">
            <a:avLst>
              <a:gd name="adj" fmla="val 15789"/>
            </a:avLst>
          </a:prstGeom>
          <a:solidFill>
            <a:srgbClr val="F7E1DF"/>
          </a:solidFill>
          <a:ln w="12700">
            <a:solidFill>
              <a:srgbClr val="B56A6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98080" y="1645920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泵站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9070848" y="1572768"/>
            <a:ext cx="1051560" cy="347472"/>
          </a:xfrm>
          <a:prstGeom prst="roundRect">
            <a:avLst>
              <a:gd name="adj" fmla="val 15789"/>
            </a:avLst>
          </a:prstGeom>
          <a:solidFill>
            <a:srgbClr val="FBFCFD"/>
          </a:solidFill>
          <a:ln w="12700">
            <a:solidFill>
              <a:srgbClr val="D8DEE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62288" y="1645920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分区</a:t>
            </a:r>
            <a:endParaRPr lang="en-US" sz="950" dirty="0"/>
          </a:p>
        </p:txBody>
      </p:sp>
      <p:pic>
        <p:nvPicPr>
          <p:cNvPr id="20" name="Image 0" descr="E:\SWMM_Agentic\SWMM-Agentic2\ppt_build\assets\graph-fl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286000"/>
            <a:ext cx="10195560" cy="2606040"/>
          </a:xfrm>
          <a:prstGeom prst="rect">
            <a:avLst/>
          </a:prstGeom>
        </p:spPr>
      </p:pic>
      <p:sp>
        <p:nvSpPr>
          <p:cNvPr id="21" name="Shape 18"/>
          <p:cNvSpPr/>
          <p:nvPr/>
        </p:nvSpPr>
        <p:spPr>
          <a:xfrm>
            <a:off x="2743200" y="5230368"/>
            <a:ext cx="1325880" cy="347472"/>
          </a:xfrm>
          <a:prstGeom prst="roundRect">
            <a:avLst>
              <a:gd name="adj" fmla="val 15789"/>
            </a:avLst>
          </a:prstGeom>
          <a:solidFill>
            <a:srgbClr val="DCE9F8"/>
          </a:solidFill>
          <a:ln w="12700">
            <a:solidFill>
              <a:srgbClr val="5F83AD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2834640" y="5303520"/>
            <a:ext cx="1143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对象层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4773168" y="5230368"/>
            <a:ext cx="1325880" cy="347472"/>
          </a:xfrm>
          <a:prstGeom prst="roundRect">
            <a:avLst>
              <a:gd name="adj" fmla="val 15789"/>
            </a:avLst>
          </a:prstGeom>
          <a:solidFill>
            <a:srgbClr val="E0EFE6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864608" y="5303520"/>
            <a:ext cx="1143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关系层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6803136" y="5230368"/>
            <a:ext cx="1325880" cy="347472"/>
          </a:xfrm>
          <a:prstGeom prst="roundRect">
            <a:avLst>
              <a:gd name="adj" fmla="val 15789"/>
            </a:avLst>
          </a:prstGeom>
          <a:solidFill>
            <a:srgbClr val="FFF0C7"/>
          </a:solidFill>
          <a:ln w="12700">
            <a:solidFill>
              <a:srgbClr val="BD9130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894576" y="5303520"/>
            <a:ext cx="1143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证据层</a:t>
            </a:r>
            <a:endParaRPr lang="en-US" sz="950" dirty="0"/>
          </a:p>
        </p:txBody>
      </p:sp>
      <p:sp>
        <p:nvSpPr>
          <p:cNvPr id="27" name="Text 24"/>
          <p:cNvSpPr/>
          <p:nvPr/>
        </p:nvSpPr>
        <p:spPr>
          <a:xfrm>
            <a:off x="566928" y="6473952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SWMM-Agentic2 · 城市内涝 Agentic 诊断工作流</a:t>
            </a:r>
            <a:endParaRPr lang="en-US" sz="850" dirty="0"/>
          </a:p>
        </p:txBody>
      </p:sp>
      <p:sp>
        <p:nvSpPr>
          <p:cNvPr id="28" name="Text 25"/>
          <p:cNvSpPr/>
          <p:nvPr/>
        </p:nvSpPr>
        <p:spPr>
          <a:xfrm>
            <a:off x="10972800" y="6473952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 / 20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3F0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5F83AD"/>
          </a:solidFill>
          <a:ln w="12700">
            <a:solidFill>
              <a:srgbClr val="5F83A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12191695" cy="32004"/>
          </a:xfrm>
          <a:prstGeom prst="rect">
            <a:avLst/>
          </a:prstGeom>
          <a:solidFill>
            <a:srgbClr val="5B8B69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4747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7969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EVIDENCE PACKAGE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66928" y="603504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以冒溢节点为锚点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66928" y="1225296"/>
            <a:ext cx="1051560" cy="41148"/>
          </a:xfrm>
          <a:prstGeom prst="rect">
            <a:avLst/>
          </a:prstGeom>
          <a:solidFill>
            <a:srgbClr val="5B8B69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82496" y="1225296"/>
            <a:ext cx="384048" cy="41148"/>
          </a:xfrm>
          <a:prstGeom prst="rect">
            <a:avLst/>
          </a:prstGeom>
          <a:solidFill>
            <a:srgbClr val="B56A64"/>
          </a:solidFill>
          <a:ln w="12700">
            <a:solidFill>
              <a:srgbClr val="B56A64"/>
            </a:solidFill>
            <a:prstDash val="solid"/>
          </a:ln>
        </p:spPr>
      </p:sp>
      <p:pic>
        <p:nvPicPr>
          <p:cNvPr id="8" name="Image 0" descr="E:\SWMM_Agentic\SWMM-Agentic2\ppt_build\assets\web-pack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1481328"/>
            <a:ext cx="6400800" cy="4315968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543800" y="1755648"/>
            <a:ext cx="3063240" cy="347472"/>
          </a:xfrm>
          <a:prstGeom prst="roundRect">
            <a:avLst>
              <a:gd name="adj" fmla="val 15789"/>
            </a:avLst>
          </a:prstGeom>
          <a:solidFill>
            <a:srgbClr val="FFF0C7"/>
          </a:solidFill>
          <a:ln w="12700">
            <a:solidFill>
              <a:srgbClr val="BD913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635240" y="1828800"/>
            <a:ext cx="2880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rainfall_context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7543800" y="2377440"/>
            <a:ext cx="3063240" cy="347472"/>
          </a:xfrm>
          <a:prstGeom prst="roundRect">
            <a:avLst>
              <a:gd name="adj" fmla="val 15789"/>
            </a:avLst>
          </a:prstGeom>
          <a:solidFill>
            <a:srgbClr val="E0EFE6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635240" y="2450592"/>
            <a:ext cx="2880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node_evidence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7543800" y="2999232"/>
            <a:ext cx="3063240" cy="347472"/>
          </a:xfrm>
          <a:prstGeom prst="roundRect">
            <a:avLst>
              <a:gd name="adj" fmla="val 15789"/>
            </a:avLst>
          </a:prstGeom>
          <a:solidFill>
            <a:srgbClr val="FFF0C7"/>
          </a:solidFill>
          <a:ln w="12700">
            <a:solidFill>
              <a:srgbClr val="BD913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635240" y="3072384"/>
            <a:ext cx="2880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surface_context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7543800" y="3621024"/>
            <a:ext cx="3063240" cy="347472"/>
          </a:xfrm>
          <a:prstGeom prst="roundRect">
            <a:avLst>
              <a:gd name="adj" fmla="val 15789"/>
            </a:avLst>
          </a:prstGeom>
          <a:solidFill>
            <a:srgbClr val="E0EFE6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635240" y="3694176"/>
            <a:ext cx="2880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network_context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7543800" y="4242816"/>
            <a:ext cx="3063240" cy="347472"/>
          </a:xfrm>
          <a:prstGeom prst="roundRect">
            <a:avLst>
              <a:gd name="adj" fmla="val 15789"/>
            </a:avLst>
          </a:prstGeom>
          <a:solidFill>
            <a:srgbClr val="FFF0C7"/>
          </a:solidFill>
          <a:ln w="12700">
            <a:solidFill>
              <a:srgbClr val="BD913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635240" y="4315968"/>
            <a:ext cx="2880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relation_paths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7552944" y="516636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把局部诊断场景打包给 Agent</a:t>
            </a:r>
            <a:endParaRPr lang="en-US" sz="1450" dirty="0"/>
          </a:p>
        </p:txBody>
      </p:sp>
      <p:sp>
        <p:nvSpPr>
          <p:cNvPr id="20" name="Text 17"/>
          <p:cNvSpPr/>
          <p:nvPr/>
        </p:nvSpPr>
        <p:spPr>
          <a:xfrm>
            <a:off x="566928" y="6473952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SWMM-Agentic2 · 城市内涝 Agentic 诊断工作流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10972800" y="6473952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 / 20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5F83AD"/>
          </a:solidFill>
          <a:ln w="12700">
            <a:solidFill>
              <a:srgbClr val="5F83A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12191695" cy="32004"/>
          </a:xfrm>
          <a:prstGeom prst="rect">
            <a:avLst/>
          </a:prstGeom>
          <a:solidFill>
            <a:srgbClr val="5B8B69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4747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7969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EVALUATION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66928" y="603504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用指标证明工作流价值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66928" y="1225296"/>
            <a:ext cx="1051560" cy="41148"/>
          </a:xfrm>
          <a:prstGeom prst="rect">
            <a:avLst/>
          </a:prstGeom>
          <a:solidFill>
            <a:srgbClr val="5B8B69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82496" y="1225296"/>
            <a:ext cx="384048" cy="41148"/>
          </a:xfrm>
          <a:prstGeom prst="rect">
            <a:avLst/>
          </a:prstGeom>
          <a:solidFill>
            <a:srgbClr val="B56A64"/>
          </a:solidFill>
          <a:ln w="12700">
            <a:solidFill>
              <a:srgbClr val="B56A6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2240280"/>
            <a:ext cx="1691640" cy="1481328"/>
          </a:xfrm>
          <a:prstGeom prst="roundRect">
            <a:avLst>
              <a:gd name="adj" fmla="val 4321"/>
            </a:avLst>
          </a:prstGeom>
          <a:solidFill>
            <a:srgbClr val="DCE9F8"/>
          </a:solidFill>
          <a:ln w="12700">
            <a:solidFill>
              <a:srgbClr val="5F83AD"/>
            </a:solidFill>
            <a:prstDash val="solid"/>
          </a:ln>
          <a:effectLst>
            <a:outerShdw sx="100000" sy="100000" kx="0" ky="0" algn="bl" rotWithShape="0" blurRad="12700" dist="50800" dir="2700000">
              <a:srgbClr val="8390A0">
                <a:alpha val="1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41248" y="278892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任务成功率</a:t>
            </a:r>
            <a:endParaRPr lang="en-US" sz="1220" dirty="0"/>
          </a:p>
        </p:txBody>
      </p:sp>
      <p:sp>
        <p:nvSpPr>
          <p:cNvPr id="10" name="Shape 8"/>
          <p:cNvSpPr/>
          <p:nvPr/>
        </p:nvSpPr>
        <p:spPr>
          <a:xfrm>
            <a:off x="2971800" y="2240280"/>
            <a:ext cx="1691640" cy="1481328"/>
          </a:xfrm>
          <a:prstGeom prst="roundRect">
            <a:avLst>
              <a:gd name="adj" fmla="val 4321"/>
            </a:avLst>
          </a:prstGeom>
          <a:solidFill>
            <a:srgbClr val="E0EFE6"/>
          </a:solidFill>
          <a:ln w="12700">
            <a:solidFill>
              <a:srgbClr val="5B8B69"/>
            </a:solidFill>
            <a:prstDash val="solid"/>
          </a:ln>
          <a:effectLst>
            <a:outerShdw sx="100000" sy="100000" kx="0" ky="0" algn="bl" rotWithShape="0" blurRad="12700" dist="50800" dir="2700000">
              <a:srgbClr val="8390A0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081528" y="278892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工具调用准确率</a:t>
            </a:r>
            <a:endParaRPr lang="en-US" sz="1220" dirty="0"/>
          </a:p>
        </p:txBody>
      </p:sp>
      <p:sp>
        <p:nvSpPr>
          <p:cNvPr id="12" name="Shape 10"/>
          <p:cNvSpPr/>
          <p:nvPr/>
        </p:nvSpPr>
        <p:spPr>
          <a:xfrm>
            <a:off x="5212080" y="2240280"/>
            <a:ext cx="1691640" cy="1481328"/>
          </a:xfrm>
          <a:prstGeom prst="roundRect">
            <a:avLst>
              <a:gd name="adj" fmla="val 4321"/>
            </a:avLst>
          </a:prstGeom>
          <a:solidFill>
            <a:srgbClr val="FFF0C7"/>
          </a:solidFill>
          <a:ln w="12700">
            <a:solidFill>
              <a:srgbClr val="BD9130"/>
            </a:solidFill>
            <a:prstDash val="solid"/>
          </a:ln>
          <a:effectLst>
            <a:outerShdw sx="100000" sy="100000" kx="0" ky="0" algn="bl" rotWithShape="0" blurRad="12700" dist="50800" dir="2700000">
              <a:srgbClr val="8390A0">
                <a:alpha val="16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321808" y="278892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代码尝试次数</a:t>
            </a:r>
            <a:endParaRPr lang="en-US" sz="1220" dirty="0"/>
          </a:p>
        </p:txBody>
      </p:sp>
      <p:sp>
        <p:nvSpPr>
          <p:cNvPr id="14" name="Shape 12"/>
          <p:cNvSpPr/>
          <p:nvPr/>
        </p:nvSpPr>
        <p:spPr>
          <a:xfrm>
            <a:off x="7452360" y="2240280"/>
            <a:ext cx="1691640" cy="1481328"/>
          </a:xfrm>
          <a:prstGeom prst="roundRect">
            <a:avLst>
              <a:gd name="adj" fmla="val 4321"/>
            </a:avLst>
          </a:prstGeom>
          <a:solidFill>
            <a:srgbClr val="EBE5F6"/>
          </a:solidFill>
          <a:ln w="12700">
            <a:solidFill>
              <a:srgbClr val="7969A4"/>
            </a:solidFill>
            <a:prstDash val="solid"/>
          </a:ln>
          <a:effectLst>
            <a:outerShdw sx="100000" sy="100000" kx="0" ky="0" algn="bl" rotWithShape="0" blurRad="12700" dist="50800" dir="2700000">
              <a:srgbClr val="8390A0">
                <a:alpha val="16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562088" y="278892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人工干预次数</a:t>
            </a:r>
            <a:endParaRPr lang="en-US" sz="1220" dirty="0"/>
          </a:p>
        </p:txBody>
      </p:sp>
      <p:sp>
        <p:nvSpPr>
          <p:cNvPr id="16" name="Shape 14"/>
          <p:cNvSpPr/>
          <p:nvPr/>
        </p:nvSpPr>
        <p:spPr>
          <a:xfrm>
            <a:off x="9692640" y="2240280"/>
            <a:ext cx="1691640" cy="1481328"/>
          </a:xfrm>
          <a:prstGeom prst="roundRect">
            <a:avLst>
              <a:gd name="adj" fmla="val 4321"/>
            </a:avLst>
          </a:prstGeom>
          <a:solidFill>
            <a:srgbClr val="F7E1DF"/>
          </a:solidFill>
          <a:ln w="12700">
            <a:solidFill>
              <a:srgbClr val="B56A64"/>
            </a:solidFill>
            <a:prstDash val="solid"/>
          </a:ln>
          <a:effectLst>
            <a:outerShdw sx="100000" sy="100000" kx="0" ky="0" algn="bl" rotWithShape="0" blurRad="12700" dist="50800" dir="2700000">
              <a:srgbClr val="8390A0">
                <a:alpha val="16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802368" y="278892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unsupported rate</a:t>
            </a:r>
            <a:endParaRPr lang="en-US" sz="1220" dirty="0"/>
          </a:p>
        </p:txBody>
      </p:sp>
      <p:sp>
        <p:nvSpPr>
          <p:cNvPr id="18" name="Text 16"/>
          <p:cNvSpPr/>
          <p:nvPr/>
        </p:nvSpPr>
        <p:spPr>
          <a:xfrm>
            <a:off x="1828800" y="4709160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评价模块量化可靠性、效率和证据约束效果。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66928" y="6473952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SWMM-Agentic2 · 城市内涝 Agentic 诊断工作流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10972800" y="6473952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 / 20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531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E:\SWMM_Agentic\SWMM-Agentic2\ppt_build\assets\max-depth-cov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212B">
              <a:alpha val="8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58368" y="658368"/>
            <a:ext cx="7772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大规模案例闭环运行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804672" y="4370832"/>
            <a:ext cx="2240280" cy="1024128"/>
          </a:xfrm>
          <a:prstGeom prst="roundRect">
            <a:avLst>
              <a:gd name="adj" fmla="val 6250"/>
            </a:avLst>
          </a:prstGeom>
          <a:solidFill>
            <a:srgbClr val="FFFFFF">
              <a:alpha val="91000"/>
            </a:srgbClr>
          </a:solidFill>
          <a:ln w="12700">
            <a:solidFill>
              <a:srgbClr val="D8DEE7">
                <a:alpha val="6500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969264" y="4590288"/>
            <a:ext cx="1901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10040</a:t>
            </a:r>
            <a:endParaRPr lang="en-US" sz="2500" dirty="0"/>
          </a:p>
        </p:txBody>
      </p:sp>
      <p:sp>
        <p:nvSpPr>
          <p:cNvPr id="7" name="Text 4"/>
          <p:cNvSpPr/>
          <p:nvPr/>
        </p:nvSpPr>
        <p:spPr>
          <a:xfrm>
            <a:off x="969264" y="5001768"/>
            <a:ext cx="1901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EEF4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节点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3639312" y="4370832"/>
            <a:ext cx="2240280" cy="1024128"/>
          </a:xfrm>
          <a:prstGeom prst="roundRect">
            <a:avLst>
              <a:gd name="adj" fmla="val 6250"/>
            </a:avLst>
          </a:prstGeom>
          <a:solidFill>
            <a:srgbClr val="FFFFFF">
              <a:alpha val="91000"/>
            </a:srgbClr>
          </a:solidFill>
          <a:ln w="12700">
            <a:solidFill>
              <a:srgbClr val="D8DEE7">
                <a:alpha val="65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803904" y="4590288"/>
            <a:ext cx="1901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9877</a:t>
            </a:r>
            <a:endParaRPr lang="en-US" sz="2500" dirty="0"/>
          </a:p>
        </p:txBody>
      </p:sp>
      <p:sp>
        <p:nvSpPr>
          <p:cNvPr id="10" name="Text 7"/>
          <p:cNvSpPr/>
          <p:nvPr/>
        </p:nvSpPr>
        <p:spPr>
          <a:xfrm>
            <a:off x="3803904" y="5001768"/>
            <a:ext cx="1901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EEF4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管段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6473952" y="4370832"/>
            <a:ext cx="2240280" cy="1024128"/>
          </a:xfrm>
          <a:prstGeom prst="roundRect">
            <a:avLst>
              <a:gd name="adj" fmla="val 6250"/>
            </a:avLst>
          </a:prstGeom>
          <a:solidFill>
            <a:srgbClr val="FFFFFF">
              <a:alpha val="91000"/>
            </a:srgbClr>
          </a:solidFill>
          <a:ln w="12700">
            <a:solidFill>
              <a:srgbClr val="D8DEE7">
                <a:alpha val="6500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638544" y="4590288"/>
            <a:ext cx="1901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318411</a:t>
            </a:r>
            <a:endParaRPr lang="en-US" sz="2500" dirty="0"/>
          </a:p>
        </p:txBody>
      </p:sp>
      <p:sp>
        <p:nvSpPr>
          <p:cNvPr id="13" name="Text 10"/>
          <p:cNvSpPr/>
          <p:nvPr/>
        </p:nvSpPr>
        <p:spPr>
          <a:xfrm>
            <a:off x="6638544" y="5001768"/>
            <a:ext cx="1901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EEF4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条证据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9308592" y="4370832"/>
            <a:ext cx="2240280" cy="1024128"/>
          </a:xfrm>
          <a:prstGeom prst="roundRect">
            <a:avLst>
              <a:gd name="adj" fmla="val 6250"/>
            </a:avLst>
          </a:prstGeom>
          <a:solidFill>
            <a:srgbClr val="FFFFFF">
              <a:alpha val="91000"/>
            </a:srgbClr>
          </a:solidFill>
          <a:ln w="12700">
            <a:solidFill>
              <a:srgbClr val="D8DEE7">
                <a:alpha val="6500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473184" y="4590288"/>
            <a:ext cx="1901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0.0</a:t>
            </a:r>
            <a:endParaRPr lang="en-US" sz="2500" dirty="0"/>
          </a:p>
        </p:txBody>
      </p:sp>
      <p:sp>
        <p:nvSpPr>
          <p:cNvPr id="16" name="Text 13"/>
          <p:cNvSpPr/>
          <p:nvPr/>
        </p:nvSpPr>
        <p:spPr>
          <a:xfrm>
            <a:off x="9473184" y="5001768"/>
            <a:ext cx="1901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EEF4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unsupported rate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10808208" y="644652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EEF4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 / 20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5F83AD"/>
          </a:solidFill>
          <a:ln w="12700">
            <a:solidFill>
              <a:srgbClr val="5F83A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12191695" cy="32004"/>
          </a:xfrm>
          <a:prstGeom prst="rect">
            <a:avLst/>
          </a:prstGeom>
          <a:solidFill>
            <a:srgbClr val="5B8B69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4747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7969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APPLICATION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66928" y="603504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从分析工具到交付材料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66928" y="1225296"/>
            <a:ext cx="1051560" cy="41148"/>
          </a:xfrm>
          <a:prstGeom prst="rect">
            <a:avLst/>
          </a:prstGeom>
          <a:solidFill>
            <a:srgbClr val="5B8B69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82496" y="1225296"/>
            <a:ext cx="384048" cy="41148"/>
          </a:xfrm>
          <a:prstGeom prst="rect">
            <a:avLst/>
          </a:prstGeom>
          <a:solidFill>
            <a:srgbClr val="B56A64"/>
          </a:solidFill>
          <a:ln w="12700">
            <a:solidFill>
              <a:srgbClr val="B56A64"/>
            </a:solidFill>
            <a:prstDash val="solid"/>
          </a:ln>
        </p:spPr>
      </p:sp>
      <p:pic>
        <p:nvPicPr>
          <p:cNvPr id="8" name="Image 0" descr="E:\SWMM_Agentic\SWMM-Agentic2\ppt_build\assets\frontend-fi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499616"/>
            <a:ext cx="6537960" cy="4315968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699248" y="1828800"/>
            <a:ext cx="2834640" cy="347472"/>
          </a:xfrm>
          <a:prstGeom prst="roundRect">
            <a:avLst>
              <a:gd name="adj" fmla="val 15789"/>
            </a:avLst>
          </a:prstGeom>
          <a:solidFill>
            <a:srgbClr val="F7E1DF"/>
          </a:solidFill>
          <a:ln w="12700">
            <a:solidFill>
              <a:srgbClr val="B56A64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790688" y="1901952"/>
            <a:ext cx="2651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风险热点清单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7699248" y="2487168"/>
            <a:ext cx="2834640" cy="347472"/>
          </a:xfrm>
          <a:prstGeom prst="roundRect">
            <a:avLst>
              <a:gd name="adj" fmla="val 15789"/>
            </a:avLst>
          </a:prstGeom>
          <a:solidFill>
            <a:srgbClr val="FFF0C7"/>
          </a:solidFill>
          <a:ln w="12700">
            <a:solidFill>
              <a:srgbClr val="BD913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790688" y="2560320"/>
            <a:ext cx="2651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证据表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7699248" y="3145536"/>
            <a:ext cx="2834640" cy="347472"/>
          </a:xfrm>
          <a:prstGeom prst="roundRect">
            <a:avLst>
              <a:gd name="adj" fmla="val 15789"/>
            </a:avLst>
          </a:prstGeom>
          <a:solidFill>
            <a:srgbClr val="E0EFE6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790688" y="3218688"/>
            <a:ext cx="2651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核查报告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7699248" y="3803904"/>
            <a:ext cx="2834640" cy="347472"/>
          </a:xfrm>
          <a:prstGeom prst="roundRect">
            <a:avLst>
              <a:gd name="adj" fmla="val 15789"/>
            </a:avLst>
          </a:prstGeom>
          <a:solidFill>
            <a:srgbClr val="DCE9F8"/>
          </a:solidFill>
          <a:ln w="12700">
            <a:solidFill>
              <a:srgbClr val="5F83A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790688" y="3877056"/>
            <a:ext cx="2651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诊断说明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7699248" y="5010912"/>
            <a:ext cx="2880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让模型结果进入城市内涝决策链</a:t>
            </a:r>
            <a:endParaRPr lang="en-US" sz="1450" dirty="0"/>
          </a:p>
        </p:txBody>
      </p:sp>
      <p:sp>
        <p:nvSpPr>
          <p:cNvPr id="18" name="Text 15"/>
          <p:cNvSpPr/>
          <p:nvPr/>
        </p:nvSpPr>
        <p:spPr>
          <a:xfrm>
            <a:off x="566928" y="6473952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SWMM-Agentic2 · 城市内涝 Agentic 诊断工作流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10972800" y="6473952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 / 20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3F0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5F83AD"/>
          </a:solidFill>
          <a:ln w="12700">
            <a:solidFill>
              <a:srgbClr val="5F83A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12191695" cy="32004"/>
          </a:xfrm>
          <a:prstGeom prst="rect">
            <a:avLst/>
          </a:prstGeom>
          <a:solidFill>
            <a:srgbClr val="5B8B69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4747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7969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APPENDIX A1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66928" y="603504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已形成网页化宣传材料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66928" y="1225296"/>
            <a:ext cx="1051560" cy="41148"/>
          </a:xfrm>
          <a:prstGeom prst="rect">
            <a:avLst/>
          </a:prstGeom>
          <a:solidFill>
            <a:srgbClr val="5B8B69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82496" y="1225296"/>
            <a:ext cx="384048" cy="41148"/>
          </a:xfrm>
          <a:prstGeom prst="rect">
            <a:avLst/>
          </a:prstGeom>
          <a:solidFill>
            <a:srgbClr val="B56A64"/>
          </a:solidFill>
          <a:ln w="12700">
            <a:solidFill>
              <a:srgbClr val="B56A64"/>
            </a:solidFill>
            <a:prstDash val="solid"/>
          </a:ln>
        </p:spPr>
      </p:sp>
      <p:pic>
        <p:nvPicPr>
          <p:cNvPr id="8" name="Image 0" descr="E:\SWMM_Agentic\SWMM-Agentic2\ppt_build\assets\web-inde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463040"/>
            <a:ext cx="5897880" cy="406908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086600" y="1828800"/>
            <a:ext cx="1417320" cy="347472"/>
          </a:xfrm>
          <a:prstGeom prst="roundRect">
            <a:avLst>
              <a:gd name="adj" fmla="val 15789"/>
            </a:avLst>
          </a:prstGeom>
          <a:solidFill>
            <a:srgbClr val="DCE9F8"/>
          </a:solidFill>
          <a:ln w="12700">
            <a:solidFill>
              <a:srgbClr val="5F83A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178040" y="1901952"/>
            <a:ext cx="1234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总览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8915400" y="1828800"/>
            <a:ext cx="1417320" cy="347472"/>
          </a:xfrm>
          <a:prstGeom prst="roundRect">
            <a:avLst>
              <a:gd name="adj" fmla="val 15789"/>
            </a:avLst>
          </a:prstGeom>
          <a:solidFill>
            <a:srgbClr val="E0EFE6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006840" y="1901952"/>
            <a:ext cx="1234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对象创新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7086600" y="2578608"/>
            <a:ext cx="1417320" cy="347472"/>
          </a:xfrm>
          <a:prstGeom prst="roundRect">
            <a:avLst>
              <a:gd name="adj" fmla="val 15789"/>
            </a:avLst>
          </a:prstGeom>
          <a:solidFill>
            <a:srgbClr val="DCE9F8"/>
          </a:solidFill>
          <a:ln w="12700">
            <a:solidFill>
              <a:srgbClr val="5F83A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178040" y="2651760"/>
            <a:ext cx="1234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架构创新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8915400" y="2578608"/>
            <a:ext cx="1417320" cy="347472"/>
          </a:xfrm>
          <a:prstGeom prst="roundRect">
            <a:avLst>
              <a:gd name="adj" fmla="val 15789"/>
            </a:avLst>
          </a:prstGeom>
          <a:solidFill>
            <a:srgbClr val="E0EFE6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006840" y="2651760"/>
            <a:ext cx="1234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诊断机制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7086600" y="3328416"/>
            <a:ext cx="1417320" cy="347472"/>
          </a:xfrm>
          <a:prstGeom prst="roundRect">
            <a:avLst>
              <a:gd name="adj" fmla="val 15789"/>
            </a:avLst>
          </a:prstGeom>
          <a:solidFill>
            <a:srgbClr val="DCE9F8"/>
          </a:solidFill>
          <a:ln w="12700">
            <a:solidFill>
              <a:srgbClr val="5F83AD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178040" y="3401568"/>
            <a:ext cx="1234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关系证据网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8915400" y="3328416"/>
            <a:ext cx="1417320" cy="347472"/>
          </a:xfrm>
          <a:prstGeom prst="roundRect">
            <a:avLst>
              <a:gd name="adj" fmla="val 15789"/>
            </a:avLst>
          </a:prstGeom>
          <a:solidFill>
            <a:srgbClr val="E0EFE6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9006840" y="3401568"/>
            <a:ext cx="1234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评价优化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566928" y="6473952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SWMM-Agentic2 · 城市内涝 Agentic 诊断工作流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10972800" y="6473952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 / 20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SWMM-Agentic2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SWMM-Agentic2 项目宣传版</dc:title>
  <dc:subject>城市内涝 Agentic 诊断工作流</dc:subject>
  <dc:creator>SWMM-Agentic2</dc:creator>
  <cp:lastModifiedBy>SWMM-Agentic2</cp:lastModifiedBy>
  <cp:revision>1</cp:revision>
  <dcterms:created xsi:type="dcterms:W3CDTF">2026-09-04T06:33:58Z</dcterms:created>
  <dcterms:modified xsi:type="dcterms:W3CDTF">2026-09-04T06:33:58Z</dcterms:modified>
</cp:coreProperties>
</file>