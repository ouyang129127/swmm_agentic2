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3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SWMM_Agentic\SWMM-Agentic2\ppt_build\assets\max-depth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2B">
              <a:alpha val="76000"/>
            </a:srgbClr>
          </a:solidFill>
          <a:ln w="12700">
            <a:solidFill>
              <a:srgbClr val="17212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132588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SWMM-Agentic2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76656" y="2157984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EF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城市内涝 Agentic 诊断工作流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85800" y="2816352"/>
            <a:ext cx="1508760" cy="6400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10528" y="5925312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程序算得准，LLM 问得懂，流程管得住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94944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719072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10512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CA2D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0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34640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Agentic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767328" y="512064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58768" y="585216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POSITIONING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 Agentic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83080"/>
            <a:ext cx="3794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程序、LLM 与 Agentic 各司其职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58368" y="3218688"/>
            <a:ext cx="3611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把可复现计算能力和任务理解能力组织在同一条受控流程里。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800600" y="157276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572768"/>
            <a:ext cx="82296" cy="749808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47488" y="177393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程序负责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47488" y="217627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读取模型、运行模拟、提取指标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00600" y="257860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EBE5F6"/>
          </a:solidFill>
          <a:ln w="12700">
            <a:solidFill>
              <a:srgbClr val="7969A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2578608"/>
            <a:ext cx="82296" cy="749808"/>
          </a:xfrm>
          <a:prstGeom prst="rect">
            <a:avLst/>
          </a:prstGeom>
          <a:solidFill>
            <a:srgbClr val="7969A4"/>
          </a:solidFill>
          <a:ln w="12700">
            <a:solidFill>
              <a:srgbClr val="7969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7488" y="277977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负责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47488" y="318211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理解问题、解释证据、支持追问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00600" y="358444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3584448"/>
            <a:ext cx="82296" cy="74980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37856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Agentic 负责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47488" y="418795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串联阶段、控制流程、避免漂移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00600" y="4590288"/>
            <a:ext cx="6355080" cy="749808"/>
          </a:xfrm>
          <a:prstGeom prst="roundRect">
            <a:avLst>
              <a:gd name="adj" fmla="val 8537"/>
            </a:avLst>
          </a:prstGeom>
          <a:solidFill>
            <a:srgbClr val="FFF0C7"/>
          </a:solidFill>
          <a:ln w="12700">
            <a:solidFill>
              <a:srgbClr val="BD9130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4590288"/>
            <a:ext cx="82296" cy="749808"/>
          </a:xfrm>
          <a:prstGeom prst="rect">
            <a:avLst/>
          </a:prstGeom>
          <a:solidFill>
            <a:srgbClr val="BD9130"/>
          </a:solidFill>
          <a:ln w="12700">
            <a:solidFill>
              <a:srgbClr val="BD91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479145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最终产物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47488" y="5193792"/>
            <a:ext cx="594360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证据链、诊断 claim、核查报告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20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44752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模型结果，不再只是一堆文件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60120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852928"/>
            <a:ext cx="82296" cy="141732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减少直接喂海量数据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90872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2852928"/>
            <a:ext cx="82296" cy="1417320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诊断读取结构化证据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21624" y="2852928"/>
            <a:ext cx="2926080" cy="1417320"/>
          </a:xfrm>
          <a:prstGeom prst="roundRect">
            <a:avLst>
              <a:gd name="adj" fmla="val 4516"/>
            </a:avLst>
          </a:prstGeom>
          <a:solidFill>
            <a:srgbClr val="F7E1DF"/>
          </a:solidFill>
          <a:ln w="12700">
            <a:solidFill>
              <a:srgbClr val="B56A64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21624" y="2852928"/>
            <a:ext cx="82296" cy="1417320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68512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更可信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68512" y="3456432"/>
            <a:ext cx="2514600" cy="667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每条结论都能核查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20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一次暴雨模拟的结果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pic>
        <p:nvPicPr>
          <p:cNvPr id="8" name="Image 0" descr="E:\SWMM_Agentic\SWMM-Agentic2\ppt_build\assets\max-depth-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36192"/>
            <a:ext cx="6720840" cy="4069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09560" y="178308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F83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0.7592 m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7909560" y="2286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最大水深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909560" y="297180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5B8B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9890</a:t>
            </a:r>
            <a:endParaRPr lang="en-US" sz="2900" dirty="0"/>
          </a:p>
        </p:txBody>
      </p:sp>
      <p:sp>
        <p:nvSpPr>
          <p:cNvPr id="12" name="Text 9"/>
          <p:cNvSpPr/>
          <p:nvPr/>
        </p:nvSpPr>
        <p:spPr>
          <a:xfrm>
            <a:off x="7909560" y="3474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匹配溢流节点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909560" y="416052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B56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598535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7909560" y="4663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CA2D 结果记录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20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32004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969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从给水管网到排水内涝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25296"/>
            <a:ext cx="1051560" cy="41148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1225296"/>
            <a:ext cx="384048" cy="41148"/>
          </a:xfrm>
          <a:prstGeom prst="rect">
            <a:avLst/>
          </a:prstGeom>
          <a:solidFill>
            <a:srgbClr val="B56A64"/>
          </a:solidFill>
          <a:ln w="12700">
            <a:solidFill>
              <a:srgbClr val="B56A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572768"/>
            <a:ext cx="4343400" cy="2651760"/>
          </a:xfrm>
          <a:prstGeom prst="roundRect">
            <a:avLst>
              <a:gd name="adj" fmla="val 2414"/>
            </a:avLst>
          </a:prstGeom>
          <a:solidFill>
            <a:srgbClr val="DCE9F8"/>
          </a:solidFill>
          <a:ln w="12700">
            <a:solidFill>
              <a:srgbClr val="5F83AD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1572768"/>
            <a:ext cx="82296" cy="265176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773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EPANET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176272"/>
            <a:ext cx="3931920" cy="1901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节点、管段、水源、泵阀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19088" y="1572768"/>
            <a:ext cx="4343400" cy="2651760"/>
          </a:xfrm>
          <a:prstGeom prst="roundRect">
            <a:avLst>
              <a:gd name="adj" fmla="val 2414"/>
            </a:avLst>
          </a:prstGeom>
          <a:solidFill>
            <a:srgbClr val="E0EFE6"/>
          </a:solidFill>
          <a:ln w="12700">
            <a:solidFill>
              <a:srgbClr val="5B8B69"/>
            </a:solidFill>
            <a:prstDash val="solid"/>
          </a:ln>
          <a:effectLst>
            <a:outerShdw sx="100000" sy="100000" kx="0" ky="0" algn="bl" rotWithShape="0" blurRad="12700" dist="50800" dir="2700000">
              <a:srgbClr val="8390A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19088" y="1572768"/>
            <a:ext cx="82296" cy="2651760"/>
          </a:xfrm>
          <a:prstGeom prst="rect">
            <a:avLst/>
          </a:prstGeom>
          <a:solidFill>
            <a:srgbClr val="5B8B69"/>
          </a:solidFill>
          <a:ln w="12700">
            <a:solidFill>
              <a:srgbClr val="5B8B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65976" y="1773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SWMM-CA2D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65976" y="2176272"/>
            <a:ext cx="3931920" cy="1901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降雨、管网、冒溢、地表积水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30368" y="2898648"/>
            <a:ext cx="1005840" cy="0"/>
          </a:xfrm>
          <a:prstGeom prst="line">
            <a:avLst/>
          </a:prstGeom>
          <a:noFill/>
          <a:ln w="25400">
            <a:solidFill>
              <a:srgbClr val="617080"/>
            </a:solidFill>
            <a:prstDash val="solid"/>
            <a:headEnd type="none"/>
            <a:tailEnd type="triangle"/>
          </a:ln>
        </p:spPr>
      </p:sp>
      <p:pic>
        <p:nvPicPr>
          <p:cNvPr id="17" name="Image 0" descr="E:\SWMM_Agentic\SWMM-Agentic2\ppt_build\assets\max-depth-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2816352"/>
            <a:ext cx="2331720" cy="107899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24128" y="501091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对象复杂性变了，Agent 任务也变了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66928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SWMM-Agentic2 · 城市内涝 Agentic 诊断工作流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972800" y="647395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20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SWMM-Agentic2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SWMM-Agentic2 项目宣传版</dc:title>
  <dc:subject>城市内涝 Agentic 诊断工作流</dc:subject>
  <dc:creator>SWMM-Agentic2</dc:creator>
  <cp:lastModifiedBy>SWMM-Agentic2</cp:lastModifiedBy>
  <cp:revision>1</cp:revision>
  <dcterms:created xsi:type="dcterms:W3CDTF">2026-09-04T06:33:37Z</dcterms:created>
  <dcterms:modified xsi:type="dcterms:W3CDTF">2026-09-04T06:33:37Z</dcterms:modified>
</cp:coreProperties>
</file>